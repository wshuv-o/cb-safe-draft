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8" r:id="rId19"/>
    <p:sldId id="260" r:id="rId11"/>
    <p:sldId id="261" r:id="rId12"/>
    <p:sldId id="269" r:id="rId20"/>
    <p:sldId id="270" r:id="rId21"/>
    <p:sldId id="262" r:id="rId13"/>
    <p:sldId id="263" r:id="rId14"/>
    <p:sldId id="264" r:id="rId15"/>
    <p:sldId id="265" r:id="rId16"/>
    <p:sldId id="266" r:id="rId17"/>
    <p:sldId id="271" r:id="rId22"/>
    <p:sldId id="267" r:id="rId18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6.xml"/><Relationship Id="rId19" Type="http://schemas.openxmlformats.org/officeDocument/2006/relationships/slide" Target="slides/slide5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5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19202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A78D6"/>
                </a:solidFill>
                <a:latin typeface="Segoe UI"/>
              </a:rPr>
              <a:t>RESEARCH PRESENTATION · POST-QUANTUM CRYPTOGRAPHY × FEDERATED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7744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B0B0B"/>
                </a:solidFill>
                <a:latin typeface="Segoe UI"/>
              </a:rPr>
              <a:t>CB-SAFE: Code-Based Post-Quantum Secure Aggregation for Byzantine-Robust Federated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4805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6251F"/>
                </a:solidFill>
                <a:latin typeface="Segoe UI"/>
              </a:rPr>
              <a:t>Md Wahiduzzaman Suva (26-94088-2)   ·   Esm-e Moula Chowdhury Abha (26-94089-2)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9834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Department of Computer Science, American International University–Bangladesh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What this research is about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1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The setting: </a:t>
            </a:r>
            <a:r>
              <a:rPr sz="1600">
                <a:solidFill>
                  <a:srgbClr val="26251F"/>
                </a:solidFill>
                <a:latin typeface="Segoe UI"/>
              </a:rPr>
              <a:t>federated learning (FL) trains one shared model across many devices; data never leaves the client, only model updates travel.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What we are trying to do: </a:t>
            </a:r>
            <a:r>
              <a:rPr sz="1600">
                <a:solidFill>
                  <a:srgbClr val="26251F"/>
                </a:solidFill>
                <a:latin typeface="Segoe UI"/>
              </a:rPr>
              <a:t>keep those updates private against future quantum computers AND keep training correct when some clients are malicious.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What we propose: </a:t>
            </a:r>
            <a:r>
              <a:rPr sz="1600">
                <a:solidFill>
                  <a:srgbClr val="26251F"/>
                </a:solidFill>
                <a:latin typeface="Segoe UI"/>
              </a:rPr>
              <a:t>CB-SAFE, a secure-aggregation framework whose post-quantum protection comes from a code-based scheme (HQC) instead of the usual lattices, extended with a poisoning defense.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97680"/>
            <a:ext cx="2103120" cy="91440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Clients train locally
(private data)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63240" y="4608576"/>
            <a:ext cx="77724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429768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encrypted updates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4297680"/>
            <a:ext cx="2286000" cy="91440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Server aggregates
(sees no individual update)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400800" y="4608576"/>
            <a:ext cx="77724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429768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new global model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4297680"/>
            <a:ext cx="2103120" cy="914400"/>
          </a:xfrm>
          <a:prstGeom prst="roundRect">
            <a:avLst/>
          </a:prstGeom>
          <a:solidFill>
            <a:srgbClr val="EEF7F2"/>
          </a:solidFill>
          <a:ln w="15875">
            <a:solidFill>
              <a:srgbClr val="1BA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Better shared model,
privacy intact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75520" y="4297680"/>
            <a:ext cx="1737360" cy="91440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Threats:
quantum + poisoning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The problem: three threats meet in one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2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Updates leak. </a:t>
            </a:r>
            <a:r>
              <a:rPr sz="1600">
                <a:solidFill>
                  <a:srgbClr val="26251F"/>
                </a:solidFill>
                <a:latin typeface="Segoe UI"/>
              </a:rPr>
              <a:t>Gradient-inversion attacks reconstruct private training images from a single client's update, so updates must be hidden.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Secure aggregation hides them </a:t>
            </a:r>
            <a:r>
              <a:rPr sz="1600">
                <a:solidFill>
                  <a:srgbClr val="26251F"/>
                </a:solidFill>
                <a:latin typeface="Segoe UI"/>
              </a:rPr>
              <a:t>with pairwise masks that cancel in the sum, but its key exchange breaks once a quantum computer exists (“harvest now, decrypt later”).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All post-quantum fixes use one math family (lattices) </a:t>
            </a:r>
            <a:r>
              <a:rPr sz="1600">
                <a:solidFill>
                  <a:srgbClr val="26251F"/>
                </a:solidFill>
                <a:latin typeface="Segoe UI"/>
              </a:rPr>
              <a:t>and hiding updates also blinds the server to poisoned updates from malicious clients.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160520"/>
            <a:ext cx="2743200" cy="86868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Privacy threat:
updates reveal training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4160520"/>
            <a:ext cx="2743200" cy="86868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Quantum threat:
key exchange breaks (Shor)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4160520"/>
            <a:ext cx="2743200" cy="86868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Poisoning threat:
malicious clients flip the model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322576" y="5120640"/>
            <a:ext cx="292608" cy="365760"/>
          </a:xfrm>
          <a:prstGeom prst="down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own Arrow 11"/>
          <p:cNvSpPr/>
          <p:nvPr/>
        </p:nvSpPr>
        <p:spPr>
          <a:xfrm>
            <a:off x="5888736" y="5120640"/>
            <a:ext cx="292608" cy="365760"/>
          </a:xfrm>
          <a:prstGeom prst="down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wn Arrow 12"/>
          <p:cNvSpPr/>
          <p:nvPr/>
        </p:nvSpPr>
        <p:spPr>
          <a:xfrm>
            <a:off x="9454896" y="5120640"/>
            <a:ext cx="292608" cy="365760"/>
          </a:xfrm>
          <a:prstGeom prst="down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108960" y="5577840"/>
            <a:ext cx="5852160" cy="77724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400" b="1">
                <a:solidFill>
                  <a:srgbClr val="0B0B0B"/>
                </a:solidFill>
                <a:latin typeface="Segoe UI"/>
              </a:rPr>
              <a:t>FL secure aggregation must survive all three at once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CLOSELY 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How the closest peer-reviewed paper solves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52514E"/>
                </a:solidFill>
                <a:latin typeface="Segoe UI"/>
              </a:rPr>
              <a:t>PQSF: “Post-quantum secure privacy-preserving federated learning”, Zhang et al., Scientific Reports 14, 2024 (peer-reviewed)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4028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Their solution: </a:t>
            </a:r>
            <a:r>
              <a:rPr sz="1600">
                <a:solidFill>
                  <a:srgbClr val="26251F"/>
                </a:solidFill>
                <a:latin typeface="Segoe UI"/>
              </a:rPr>
              <a:t>the Bonawitz-style masking protocol, made quantum-safe with lattice cryptography: a lattice multi-stage secret-sharing scheme reconstructs the masks, so the server still learns only the sum of updates.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What works: </a:t>
            </a:r>
            <a:r>
              <a:rPr sz="1600">
                <a:solidFill>
                  <a:srgbClr val="26251F"/>
                </a:solidFill>
                <a:latin typeface="Segoe UI"/>
              </a:rPr>
              <a:t>peer-reviewed evidence that post-quantum secure aggregation is practical in FL; our confidentiality layer follows the same masking pattern.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51960"/>
            <a:ext cx="3383280" cy="105156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50" b="0">
                <a:solidFill>
                  <a:srgbClr val="0B0B0B"/>
                </a:solidFill>
                <a:latin typeface="Segoe UI"/>
              </a:rPr>
              <a:t>Gap 1 · Lattice-only
One cryptanalytic advance
breaks everything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4251960"/>
            <a:ext cx="3383280" cy="105156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50" b="0">
                <a:solidFill>
                  <a:srgbClr val="0B0B0B"/>
                </a:solidFill>
                <a:latin typeface="Segoe UI"/>
              </a:rPr>
              <a:t>Gap 2 · No robustness
A poisoned update passes
straight through the sum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4251960"/>
            <a:ext cx="3383280" cy="105156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50" b="0">
                <a:solidFill>
                  <a:srgbClr val="0B0B0B"/>
                </a:solidFill>
                <a:latin typeface="Segoe UI"/>
              </a:rPr>
              <a:t>Gap 3 · Hard-wired primitive
Cannot swap the KEM
when standards evolve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4406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A78D6"/>
                </a:solidFill>
                <a:latin typeface="Segoe UI"/>
              </a:rPr>
              <a:t>CB-SAFE targets exactly these gaps. The closest robustness peer, FedGT (TIFS 2025), also tests group sums but is not post-quantum; CB-SAFE matches its detection at lower cost and adds code-based confidentiality.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CONTRIBUTIONS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What this paper contributes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First code-based (HQC) post-quantum secure aggregation for FL: cryptographic diversity beyond lattices.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A quantified privacy–robustness trade-off: clean-cluster probability (1−f)^c ties the anonymity set to robustness.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The laundering effect: a proved boundary γ*=2c/m−1 where poisoning becomes magnitude-invisible.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CB-SAFE+: temporal group testing that identifies attackers from group-level observations, at zero extra leakage.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Evaluation on four datasets and two modalities; ties the SOTA (FedGT) at lower cost. Open-source.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4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APPROACH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CB-SAFE: one training round,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6251F"/>
                </a:solidFill>
                <a:latin typeface="Segoe UI"/>
              </a:rPr>
              <a:t>Code-based (HQC) key setup happens once; every round then runs entirely on cheap masks.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377440"/>
            <a:ext cx="1965960" cy="73152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Cluster 1
(c clients, masked)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291840"/>
            <a:ext cx="1965960" cy="73152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Cluster 2
(c clients, masked)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148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52514E"/>
                </a:solidFill>
                <a:latin typeface="Segoe UI"/>
              </a:rPr>
              <a:t>⋮   (k clusters)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80360" y="3246120"/>
            <a:ext cx="73152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293522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masks cancel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2834640"/>
            <a:ext cx="2377440" cy="155448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50" b="1">
                <a:solidFill>
                  <a:srgbClr val="0B0B0B"/>
                </a:solidFill>
                <a:latin typeface="Segoe UI"/>
              </a:rPr>
              <a:t>Server sees ONLY
k cluster sums
S₁ … Sₖ
(never an individual)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263640" y="3246120"/>
            <a:ext cx="73152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293522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inspect sums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0" y="2834640"/>
            <a:ext cx="2286000" cy="1554480"/>
          </a:xfrm>
          <a:prstGeom prst="roundRect">
            <a:avLst/>
          </a:prstGeom>
          <a:solidFill>
            <a:srgbClr val="EEF7F2"/>
          </a:solidFill>
          <a:ln w="15875">
            <a:solidFill>
              <a:srgbClr val="1BA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50" b="0">
                <a:solidFill>
                  <a:srgbClr val="0B0B0B"/>
                </a:solidFill>
                <a:latin typeface="Segoe UI"/>
              </a:rPr>
              <a:t>Robust aggregation
+ CB-SAFE+ defense
(flag &amp; exclude attackers)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555480" y="3246120"/>
            <a:ext cx="73152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332720" y="2971800"/>
            <a:ext cx="1463040" cy="128016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"/>
              </a:rPr>
              <a:t>Global
model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257800"/>
            <a:ext cx="5486400" cy="64008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00" b="0">
                <a:solidFill>
                  <a:srgbClr val="0B0B0B"/>
                </a:solidFill>
                <a:latin typeface="Segoe UI"/>
              </a:rPr>
              <a:t>ONE-TIME: HQC (code-based KEM) key setup (pluggable: swap in ML-KEM/Kyber with one config line)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5257800"/>
            <a:ext cx="5257800" cy="640080"/>
          </a:xfrm>
          <a:prstGeom prst="roundRect">
            <a:avLst/>
          </a:prstGeom>
          <a:solidFill>
            <a:srgbClr val="EEF7F2"/>
          </a:solidFill>
          <a:ln w="15875">
            <a:solidFill>
              <a:srgbClr val="1BA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00" b="0">
                <a:solidFill>
                  <a:srgbClr val="0B0B0B"/>
                </a:solidFill>
                <a:latin typeface="Segoe UI"/>
              </a:rPr>
              <a:t>EVERY ROUND: fresh masks from stored secrets: zero KEM bytes on the wire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METHOD · CONFIDENTIALITY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Hide every update, pay for crypto only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6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6766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Masks cancel within a cluster: the sum is exact, individuals stay hidden (anonymity set = cluster size).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Proved: the server, even colluding with some clients, learns nothing beyond each cluster sum.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Dropouts: secret-sharing recovers the masks of clients who leave mid-round.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977639"/>
            <a:ext cx="3108960" cy="137160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SETUP (once)
publish HQC public keys,
establish pairwise secrets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69080" y="4526279"/>
            <a:ext cx="82296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4215383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stored secrets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3977639"/>
            <a:ext cx="3108960" cy="1371600"/>
          </a:xfrm>
          <a:prstGeom prst="roundRect">
            <a:avLst/>
          </a:prstGeom>
          <a:solidFill>
            <a:srgbClr val="EEF7F2"/>
          </a:solidFill>
          <a:ln w="15875">
            <a:solidFill>
              <a:srgbClr val="1BA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EVERY ROUND
derive fresh masks locally
(no new crypto traffic)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275320" y="4526279"/>
            <a:ext cx="82296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4215383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masked update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3977639"/>
            <a:ext cx="2377440" cy="137160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SERVER
sums per cluster,
masks vanish</a:t>
            </a:r>
          </a:p>
        </p:txBody>
      </p:sp>
      <p:pic>
        <p:nvPicPr>
          <p:cNvPr id="15" name="Picture 14" descr="fig_mas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783080"/>
            <a:ext cx="2697480" cy="19293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GUARANTEE · PRIVACY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Provable confidentiality of masked 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26251F"/>
                </a:solidFill>
                <a:latin typeface="Segoe UI"/>
              </a:rPr>
              <a:t>Leakage is exactly the per-cluster sum, and nothing else.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Theorem 1: an honest-but-curious server, even colluding with up to t−1 members of a cluster, learns nothing beyond each cluster's sum.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Proof idea: IND-CCA2 KEM gives uniform pairwise secrets; the PRG/KDF give uniform masks; Shamir shares below threshold reveal nothing.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Anonymity set = cluster size c. Re-randomizing clusters every round preserves the per-round guarantee.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CB-SAFE+ flags are computed from sums the server already holds, so the defense adds no leakage.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7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KEY FINDING · LAUNDERING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Secure aggregation can launder poisoning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6583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Proposition 1: with m amplified sign-flips in a cluster of size c, the cluster mean is μ = (c−m(1+γ))/c · h.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At γ*=2c/m−1 the poisoned mean has the SAME magnitude as an honest update but opposite direction.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So magnitude- and order-statistic rules (trimmed mean, median, even RFA) cannot see it and collapse to chance.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Detection must therefore use signals that survive averaging: direction and repetition over rounds.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8 / 15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828800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METHOD · CB-SAFE+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Catch attackers the server never sees individually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9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795527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Key insight: a poisoned cluster sum is normal in size but points the wrong way; a 200-sample server set exposes it (loss goes up).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Repetition finds individuals: clusters reshuffle each round, so a true attacker sits in a flagged cluster almost always, honest clients only rarely.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520440"/>
            <a:ext cx="1874519" cy="132588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50" b="0">
                <a:solidFill>
                  <a:srgbClr val="0B0B0B"/>
                </a:solidFill>
                <a:latin typeface="Segoe UI"/>
              </a:rPr>
              <a:t>1 · Reshuffle
new random clusters
every round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51760" y="4041647"/>
            <a:ext cx="292608" cy="27432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3520440"/>
            <a:ext cx="1874519" cy="132588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50" b="0">
                <a:solidFill>
                  <a:srgbClr val="0B0B0B"/>
                </a:solidFill>
                <a:latin typeface="Segoe UI"/>
              </a:rPr>
              <a:t>2 · Probe
does each cluster sum
raise root-set loss?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92040" y="4041647"/>
            <a:ext cx="292608" cy="27432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80" y="3520440"/>
            <a:ext cx="1874519" cy="132588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50" b="0">
                <a:solidFill>
                  <a:srgbClr val="0B0B0B"/>
                </a:solidFill>
                <a:latin typeface="Segoe UI"/>
              </a:rPr>
              <a:t>3 · Flag
mark suspicious
cluster sums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32320" y="4041647"/>
            <a:ext cx="292608" cy="27432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52360" y="3520440"/>
            <a:ext cx="1874519" cy="132588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50" b="0">
                <a:solidFill>
                  <a:srgbClr val="0B0B0B"/>
                </a:solidFill>
                <a:latin typeface="Segoe UI"/>
              </a:rPr>
              <a:t>4 · Score
suspicion += 1 for all
members of flagged clusters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372600" y="4041647"/>
            <a:ext cx="292608" cy="27432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92640" y="3520440"/>
            <a:ext cx="1874519" cy="1325880"/>
          </a:xfrm>
          <a:prstGeom prst="roundRect">
            <a:avLst/>
          </a:prstGeom>
          <a:solidFill>
            <a:srgbClr val="EEF7F2"/>
          </a:solidFill>
          <a:ln w="15875">
            <a:solidFill>
              <a:srgbClr val="1BA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50" b="0">
                <a:solidFill>
                  <a:srgbClr val="0B0B0B"/>
                </a:solidFill>
                <a:latin typeface="Segoe UI"/>
              </a:rPr>
              <a:t>5 · Exclude
persistent suspects are
removed from 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66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Flags are computed from sums the server already holds, so the defense leaks nothing extra (proved).</a:t>
            </a:r>
          </a:p>
        </p:txBody>
      </p:sp>
      <p:pic>
        <p:nvPicPr>
          <p:cNvPr id="18" name="Picture 17" descr="fig_launder_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691640"/>
            <a:ext cx="2331720" cy="17465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EVALUATION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How we evaluate: five KPI families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10 / 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783080"/>
          <a:ext cx="68580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6202"/>
                <a:gridCol w="2633240"/>
                <a:gridCol w="2488556"/>
              </a:tblGrid>
              <a:tr h="5943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KPI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What it measures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How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51F"/>
                          </a:solidFill>
                          <a:latin typeface="Segoe UI"/>
                        </a:rPr>
                        <a:t>Communication overhead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bytes per client: one-time setup vs every round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counted from real protocol messages (liboqs)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51F"/>
                          </a:solidFill>
                          <a:latin typeface="Segoe UI"/>
                        </a:rPr>
                        <a:t>Computation time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key setup, masking, unmasking wall-clock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measured per round on real hardware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51F"/>
                          </a:solidFill>
                          <a:latin typeface="Segoe UI"/>
                        </a:rPr>
                        <a:t>Utility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test accuracy vs plain FedAvg (must match)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CIFAR-10, non-IID, 30 clients, 40 rounds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51F"/>
                          </a:solidFill>
                          <a:latin typeface="Segoe UI"/>
                        </a:rPr>
                        <a:t>Robustness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accuracy &amp; attack success rate vs attacker fraction f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sign-flip, label-flip, backdoor at f = 10–30%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51F"/>
                          </a:solidFill>
                          <a:latin typeface="Segoe UI"/>
                        </a:rPr>
                        <a:t>Identification quality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attackers caught / honest clients wrongly excluded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vs ground truth across all runs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56235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Baselines: plain FedAvg and the lattice (ML-KEM) variant, plus eight robust rules at matched NIST levels: mean, trimmed mean, median, Multi-Krum, Bulyan, geometric-median (RFA), FLTrust, and the SOTA group-testing method FedGT (TIFS 2025).</a:t>
            </a:r>
          </a:p>
        </p:txBody>
      </p:sp>
      <p:pic>
        <p:nvPicPr>
          <p:cNvPr id="9" name="Picture 8" descr="fig_dirichlet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965960"/>
            <a:ext cx="3794760" cy="2514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0" y="4526280"/>
            <a:ext cx="3794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4" i="1">
                <a:solidFill>
                  <a:srgbClr val="898781"/>
                </a:solidFill>
                <a:latin typeface="Segoe UI"/>
              </a:rPr>
              <a:t>Non-IID split (Dirichlet a=0.5): highly uneven per-client class counts.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EVALUATION · KPI 1 &amp; 2 (COST)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The code-based premium is a one-time constant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11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5669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Every round costs the same for all six KEMs: </a:t>
            </a:r>
            <a:r>
              <a:rPr sz="1550">
                <a:solidFill>
                  <a:srgbClr val="26251F"/>
                </a:solidFill>
                <a:latin typeface="Segoe UI"/>
              </a:rPr>
              <a:t>2,277 KiB per client; the update itself dominates.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Setup (once): </a:t>
            </a:r>
            <a:r>
              <a:rPr sz="1550">
                <a:solidFill>
                  <a:srgbClr val="26251F"/>
                </a:solidFill>
                <a:latin typeface="Segoe UI"/>
              </a:rPr>
              <a:t>HQC 15.2 KiB vs ML-KEM 3.8 KiB per client, under 0.03% of 40 rounds' traffic.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Time: </a:t>
            </a:r>
            <a:r>
              <a:rPr sz="1550">
                <a:solidFill>
                  <a:srgbClr val="26251F"/>
                </a:solidFill>
                <a:latin typeface="Segoe UI"/>
              </a:rPr>
              <a:t>2.0 s one-time key setup for 30 clients; ~26 ms masking per round vs ~21 s of training.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Takeaway: </a:t>
            </a:r>
            <a:r>
              <a:rPr sz="1550">
                <a:solidFill>
                  <a:srgbClr val="26251F"/>
                </a:solidFill>
                <a:latin typeface="Segoe UI"/>
              </a:rPr>
              <a:t>cryptographic diversity is practically free once keys are reused.</a:t>
            </a:r>
          </a:p>
        </p:txBody>
      </p:sp>
      <p:pic>
        <p:nvPicPr>
          <p:cNvPr id="8" name="Picture 7" descr="fig_amort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828800"/>
            <a:ext cx="5074920" cy="35160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20840" y="5806440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2514E"/>
                </a:solidFill>
                <a:latin typeface="Segoe UI"/>
              </a:rPr>
              <a:t>Even the heaviest HQC setup is ~2% of ONE round's traffic (log scale).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EVALUATION · KPI 3 (UTILITY)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Privacy provably costs no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12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5669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59.0% on non-IID CIFAR-10 </a:t>
            </a:r>
            <a:r>
              <a:rPr sz="1550">
                <a:solidFill>
                  <a:srgbClr val="26251F"/>
                </a:solidFill>
                <a:latin typeface="Segoe UI"/>
              </a:rPr>
              <a:t>(30 clients, 40 rounds), identical for plain, HQC, and ML-KEM runs.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Why identical: </a:t>
            </a:r>
            <a:r>
              <a:rPr sz="1550">
                <a:solidFill>
                  <a:srgbClr val="26251F"/>
                </a:solidFill>
                <a:latin typeface="Segoe UI"/>
              </a:rPr>
              <a:t>secure sums matched plain sums in every round to 2.28×10⁻⁵, exactly the rounding limit; the crypto changes nothing else.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Dropout recovery verified live </a:t>
            </a:r>
            <a:r>
              <a:rPr sz="1550">
                <a:solidFill>
                  <a:srgbClr val="26251F"/>
                </a:solidFill>
                <a:latin typeface="Segoe UI"/>
              </a:rPr>
              <a:t>in rounds 10 and 20, including graceful exclusion of a below-threshold cluster.</a:t>
            </a:r>
          </a:p>
        </p:txBody>
      </p:sp>
      <p:pic>
        <p:nvPicPr>
          <p:cNvPr id="8" name="Picture 7" descr="fig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103120"/>
            <a:ext cx="5074920" cy="31478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20840" y="5806440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2514E"/>
                </a:solidFill>
                <a:latin typeface="Segoe UI"/>
              </a:rPr>
              <a:t>One accuracy curve serves all three configurations.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EVALUATION · KPI 4 &amp; 5 (ROBUSTNESS)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Standard rules collapse; CB-SAFE+ recovers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13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5669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Why rules fail: cluster averaging disguises the poison (normal size, wrong direction), so mean, trimmed mean, median and even the robust geometric median (RFA) fall to ~10% (random) at f ≥ 20%; Multi-Krum and Bulyan degrade but hold longer.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Ties the state of the art: at f = 30% CB-SAFE+ holds ~85% accuracy (FashionMNIST), matching FedGT (TIFS 2025), while catching 3/3, 6/6, 9/9 attackers with far fewer false exclusions (0.0 / 0.7 / 0.3 vs FedGT 1.3 / 3.3 / 1.3).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Generalizes across domains: the same collapse-and-recover pattern holds on EMNIST (85% at f = 30%) and tabular Edge-IIoTset (62%); stealthy backdoors remain an open limit for all sum-level defenses.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5806440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2514E"/>
                </a:solidFill>
                <a:latin typeface="Segoe UI"/>
              </a:rPr>
              <a:t>Sign-flip attack on FashionMNIST: accuracy vs attacker fraction across eight rules; only CB-SAFE+ and FedGT stay near the clean baseline.</a:t>
            </a:r>
          </a:p>
        </p:txBody>
      </p:sp>
      <p:pic>
        <p:nvPicPr>
          <p:cNvPr id="10" name="Picture 9" descr="fig_signflip_acc_sl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828800"/>
            <a:ext cx="5074920" cy="341049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RESULTS ·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Same story across domains, round by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6583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Cross-domain: the collapse-and-recover pattern replicates on EMNIST (85% at f=30%) and tabular Edge-IIoTset (62%).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Cluster-size dial: larger c enlarges the anonymity set but shifts the median's breakdown frontier left, exactly as (1−f)^c predicts.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Overlap helps: overlapping re-randomized clusters extend CB-SAFE+ recovery to higher f.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6251F"/>
                </a:solidFill>
                <a:latin typeface="Segoe UI"/>
              </a:rPr>
              <a:t>▪  Statistical rigor: 3 seeds on CIFAR-10/FashionMNIST/Edge-IIoTset, paired t-test with Holm correction.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14 / 15</a:t>
            </a:r>
          </a:p>
        </p:txBody>
      </p:sp>
      <p:pic>
        <p:nvPicPr>
          <p:cNvPr id="7" name="Picture 6" descr="fig_dynamics_signflip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920240"/>
            <a:ext cx="41148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Takeaways &amp; 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15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▪  Diversity delivered: the first code-based post-quantum secure aggregation for FL, at a one-time cost under 0.03% of traffic.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▪  New understanding: secure aggregation launders poisoning; defenses must use signals that survive summation, accumulated over rounds.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▪  New defense: CB-SAFE+ identifies individual attackers from group observations only, tying FedGT at ~4x lower cost with zero extra privacy leakage.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▪  Open problems: stealthy backdoors, actively malicious servers, adaptive attackers.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▪  Validated across four datasets (CIFAR-10, FashionMNIST, EMNIST, Edge-IIoTset); 100-client scale in progress; implementation released open-source.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78D6"/>
                </a:solidFill>
                <a:latin typeface="Segoe UI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[1] McMahan et al., Communication-efficient learning, AISTATS 2017.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[2] Bonawitz et al., Practical secure aggregation, CCS 2017.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[3] Bell et al., Secure single-server aggregation, CCS 2020.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[4] Xhemrishi et al., FedGT, IEEE TIFS 2025.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[5] Cao et al., FLTrust, NDSS 2021.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[6] Blanchard et al., Krum, NeurIPS 2017.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[7] Yin et al., Byzantine-robust distributed learning, ICML 2018.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[8] El Mhamdi et al., Bulyan, ICML 2018.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[9] Pillutla et al., RFA (geometric median), IEEE TSP 2022.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[10] Shor, Quantum factoring, SIAM J. Comput. 1997.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[11] McEliece, Code-based cryptosystem, JPL DSN 1978.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[12] NIST IR 8545, PQC round-4 status, 2025 (HQC).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[13] NIST FIPS 203, ML-KEM, 2024.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[14] Bagdasaryan et al., Backdoor FL, AISTATS 2020.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[15] Ferrag et al., Edge-IIoTset, IEEE Access 2022.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6251F"/>
                </a:solidFill>
                <a:latin typeface="Segoe UI"/>
              </a:rPr>
              <a:t>Full list (47 refs) in the manuscript.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