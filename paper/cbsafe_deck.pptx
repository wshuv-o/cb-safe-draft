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7830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2A78D6"/>
                </a:solidFill>
                <a:latin typeface="Calibri"/>
              </a:rPr>
              <a:t>POST-QUANTUM CRYPTOGRAPHY × FEDERATED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28600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700" b="1" i="0">
                <a:solidFill>
                  <a:srgbClr val="0B0B0B"/>
                </a:solidFill>
                <a:latin typeface="Calibri"/>
              </a:rPr>
              <a:t>CB-SAFE: Code-Based Post-Quantum Secure Aggregation for Byzantine-Robust Federated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5262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26251F"/>
                </a:solidFill>
                <a:latin typeface="Calibri"/>
              </a:rPr>
              <a:t>Md Wahiduzzaman Suva (26-94088-2)   ·   Esm-e Moula Chowdhury Abha (26-94089-2)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956048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898781"/>
                </a:solidFill>
                <a:latin typeface="Calibri"/>
              </a:rPr>
              <a:t>Department of Computer Science, American International University–Bangladesh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8064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 i="1">
                <a:solidFill>
                  <a:srgbClr val="898781"/>
                </a:solidFill>
                <a:latin typeface="Calibri"/>
              </a:rPr>
              <a:t>Slides 1–15: required method presentation.   Slides 16–23: full-paper research walkthrough.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Calibri"/>
              </a:rP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Federated learning shares model updates, not raw data, yet </a:t>
            </a:r>
            <a:r>
              <a:rPr sz="1500" b="1" i="0">
                <a:solidFill>
                  <a:srgbClr val="0B0B0B"/>
                </a:solidFill>
                <a:latin typeface="Calibri"/>
              </a:rPr>
              <a:t>those updates still leak private training data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Secure aggregation [2] hides updates behind masks, but its key exchange </a:t>
            </a:r>
            <a:r>
              <a:rPr sz="1500" b="1" i="0">
                <a:solidFill>
                  <a:srgbClr val="0B0B0B"/>
                </a:solidFill>
                <a:latin typeface="Calibri"/>
              </a:rPr>
              <a:t>breaks under a quantum computer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 (harvest-now, decrypt-later).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Every post-quantum fix today is </a:t>
            </a:r>
            <a:r>
              <a:rPr sz="1500" b="1" i="0">
                <a:solidFill>
                  <a:srgbClr val="0B0B0B"/>
                </a:solidFill>
                <a:latin typeface="Calibri"/>
              </a:rPr>
              <a:t>lattice-only, a monoculture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; and hiding updates also blinds the server to poisoned ones.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Goal: one protocol that is </a:t>
            </a:r>
            <a:r>
              <a:rPr sz="1500" b="1" i="0">
                <a:solidFill>
                  <a:srgbClr val="0B0B0B"/>
                </a:solidFill>
                <a:latin typeface="Calibri"/>
              </a:rPr>
              <a:t>private, post-quantum with crypto diversity, and Byzantine-robust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[2] K. Bonawitz, V. Ivanov, B. Kreuter, A. Marcedone, H. B. McMahan, S. Patel, D. Ramage, A. Segal, and K. Seth, "Practical secure aggregation for privacy-preserving machine learning," in Proc. ACM CCS, 2017, pp. 1175–1191.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Calibri"/>
              </a:rPr>
              <a:t>1 / 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Calibri"/>
              </a:rPr>
              <a:t>Background and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Secure aggregation = pairwise masks that cancel in the sum; the server sees only the aggregate, never an individual.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Quantum threat: Shor's algorithm [4] breaks classical key exchange, and traffic recorded today is decryptable later.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Crypto diversity: NIST selected the code-based KEM HQC in 2025 [3] to hedge a lattice break; that diversity has not reached FL.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Robustness tension: privacy hides exactly the per-client signal that poisoning defenses need.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[3] National Institute of Standards and Technology, "Status report on the fourth round of the NIST post-quantum cryptography standardization process," NIST IR 8545, Mar. 2025.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[4] P. W. Shor, "Polynomial-time algorithms for prime factorization and discrete logarithms on a quantum computer," SIAM J. Comput., vol. 26, no. 5, pp. 1484–1509, 1997.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Calibri"/>
              </a:rPr>
              <a:t>2 / 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Calibri"/>
              </a:rPr>
              <a:t>Related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FedGT [1] (IEEE TIFS, 2025) is the closest peer to our robustness mechanism.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Idea: group clients into overlapping test groups; the server sees only group aggregates, so privacy is preserved.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A statistical test flags groups that contain malicious clients; a decoder then identifies and removes the culprits.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Borrowed from group testing: find a few defectives with far fewer pooled tests than testing everyone.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Calibri"/>
              </a:rPr>
              <a:t>3 / 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Calibri"/>
              </a:rPr>
              <a:t>Methodology (Base Paper)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In FedGT [1], an assignment matrix groups n clients into m overlapping groups (the parity-check structure of a code).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Each group is securely aggregated; a test on the group aggregate is positive if any member is malicious.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A COMP / Neyman-Pearson decoder infers which clients are malicious from the group test results.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Flagged clients are excluded; the remaining clean clients are aggregated into the global model.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Calibri"/>
              </a:rPr>
              <a:t>4 / 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Calibri"/>
              </a:rP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Crypto: FedGT [1] treats secure aggregation as a black box, with </a:t>
            </a:r>
            <a:r>
              <a:rPr sz="1500" b="1" i="0">
                <a:solidFill>
                  <a:srgbClr val="0B0B0B"/>
                </a:solidFill>
                <a:latin typeface="Calibri"/>
              </a:rPr>
              <a:t>no post-quantum layer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, in a lattice-only field.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Cost: it needs a </a:t>
            </a:r>
            <a:r>
              <a:rPr sz="1500" b="1" i="0">
                <a:solidFill>
                  <a:srgbClr val="0B0B0B"/>
                </a:solidFill>
                <a:latin typeface="Calibri"/>
              </a:rPr>
              <a:t>server validation set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 and per-round group testing over fixed overlapping groups.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Single-round decode: it identifies attackers from </a:t>
            </a:r>
            <a:r>
              <a:rPr sz="1500" b="1" i="0">
                <a:solidFill>
                  <a:srgbClr val="0B0B0B"/>
                </a:solidFill>
                <a:latin typeface="Calibri"/>
              </a:rPr>
              <a:t>one round's tests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, using no information across rounds.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Unexplained failure: it does not characterize </a:t>
            </a:r>
            <a:r>
              <a:rPr sz="1500" b="1" i="0">
                <a:solidFill>
                  <a:srgbClr val="0B0B0B"/>
                </a:solidFill>
                <a:latin typeface="Calibri"/>
              </a:rPr>
              <a:t>why ordinary robust aggregation breaks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 once updates are hidden.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Calibri"/>
              </a:rPr>
              <a:t>5 / 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Calibri"/>
              </a:rPr>
              <a:t>Paper Selection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Venue quality: FedGT [1] is in IEEE TIFS, a Q1 security journal. Recency: published 2025.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Relevance: it solves our exact sub-problem, malicious-client identification under secure aggregation.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Method strength: its group testing outperforms the geometric median (RFA) [8] and Multi-Krum in its own study.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Reproducible: public code and a clearly specified protocol, a solid foundation to build 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[8] K. Pillutla, S. M. Kakade, and Z. Harchaoui, "Robust aggregation for federated learning," IEEE Trans. Signal Process., vol. 70, pp. 1142–1154, 2022.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Calibri"/>
              </a:rPr>
              <a:t>6 / 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Calibri"/>
              </a:rPr>
              <a:t>Proposed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26251F"/>
                </a:solidFill>
                <a:latin typeface="Calibri"/>
              </a:rPr>
              <a:t>One framework that is private, post-quantum, and Byzantine-robust at the same time.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Hide updates within clusters using a code-based (HQC) masking protocol [2]: the server sees only cluster sums.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Run group testing [1] across re-randomized clusters over rounds to identify attackers (CB-SAFE+).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Confidentiality lives below the cluster boundary; robustness operates above it; post-quantum by construction.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[2] K. Bonawitz, V. Ivanov, B. Kreuter, A. Marcedone, H. B. McMahan, S. Patel, D. Ramage, A. Segal, and K. Seth, "Practical secure aggregation for privacy-preserving machine learning," in Proc. ACM CCS, 2017, pp. 1175–1191.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Calibri"/>
              </a:rPr>
              <a:t>7 / 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Calibri"/>
              </a:rPr>
              <a:t>Methodology (Ours): Masking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6400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We adopt Bonawitz-style double masking [2]: pairwise masks cancel in the cluster sum, so individuals stay hidden.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Dropout resilience via Shamir secret sharing of the self-masks.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Our change: masks are seeded from a KEM, so per-round traffic carries no cryptographic bytes at all.</a:t>
            </a:r>
          </a:p>
        </p:txBody>
      </p:sp>
      <p:pic>
        <p:nvPicPr>
          <p:cNvPr id="4" name="Picture 3" descr="fig_mas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463040"/>
            <a:ext cx="4480560" cy="32740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[2] K. Bonawitz, V. Ivanov, B. Kreuter, A. Marcedone, H. B. McMahan, S. Patel, D. Ramage, A. Segal, and K. Seth, "Practical secure aggregation for privacy-preserving machine learning," in Proc. ACM CCS, 2017, pp. 1175–1191.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Calibri"/>
              </a:rPr>
              <a:t>8 / 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Calibri"/>
              </a:rPr>
              <a:t>Methodology (Ours):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We adopt the core idea from FedGT [1]: identify malicious clients from group-level observations, never from individual updates.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The groups are the privacy-preserving cluster sums (the pools); a probe flags contaminated pools.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Our change: tests repeat over re-randomized clusters and accumulate across rounds (temporal group testing).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Calibri"/>
              </a:rPr>
              <a:t>9 / 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Calibri"/>
              </a:rPr>
              <a:t>Methodology (Ours): Cryptography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We adopt HQC, the code-based KEM NIST selected in 2025 [3], for post-quantum confidentiality.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Its security rests on syndrome decoding of quasi-cyclic codes, not lattices: genuine cryptographic diversity.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Our change: HQC sits behind a KEM-agnostic interface, so ML-KEM [9] swaps in with one configuration line.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[3] National Institute of Standards and Technology, "Status report on the fourth round of the NIST post-quantum cryptography standardization process," NIST IR 8545, Mar. 2025.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[9] National Institute of Standards and Technology, "Module-lattice-based key-encapsulation mechanism standard," FIPS 203, Aug. 2024.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Calibri"/>
              </a:rPr>
              <a:t>10 / 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Calibri"/>
              </a:rPr>
              <a:t>Methodology (Ours): Integration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26251F"/>
                </a:solidFill>
                <a:latin typeface="Calibri"/>
              </a:rPr>
              <a:t>Masking + group testing + a code-based KEM become one coherent framework.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HQC-seeded masking [2], [3] hides updates inside clusters, so the server sees only cluster sums.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Group testing [1] then runs across those cluster sums, over re-randomized rounds, to name the attackers.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Net design: privacy below the cluster boundary, robustness above it, code-based crypto throughout.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On top we add our own pieces: the laundering theorem and a server root-loss probe.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[2] K. Bonawitz, V. Ivanov, B. Kreuter, A. Marcedone, H. B. McMahan, S. Patel, D. Ramage, A. Segal, and K. Seth, "Practical secure aggregation for privacy-preserving machine learning," in Proc. ACM CCS, 2017, pp. 1175–1191.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[3] National Institute of Standards and Technology, "Status report on the fourth round of the NIST post-quantum cryptography standardization process," NIST IR 8545, Mar. 2025.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Calibri"/>
              </a:rPr>
              <a:t>11 / 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Calibri"/>
              </a:rPr>
              <a:t>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6400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Crypto: FedGT [1] is crypto-agnostic → </a:t>
            </a:r>
            <a:r>
              <a:rPr sz="1500" b="1" i="0">
                <a:solidFill>
                  <a:srgbClr val="0B0B0B"/>
                </a:solidFill>
                <a:latin typeface="Calibri"/>
              </a:rPr>
              <a:t>CB-SAFE is code-based post-quantum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Detection: FedGT uses single-round COMP + a validation set → </a:t>
            </a:r>
            <a:r>
              <a:rPr sz="1500" b="1" i="0">
                <a:solidFill>
                  <a:srgbClr val="0B0B0B"/>
                </a:solidFill>
                <a:latin typeface="Calibri"/>
              </a:rPr>
              <a:t>CB-SAFE uses temporal accumulation + a root-loss probe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Theory: FedGT gives no failure model → </a:t>
            </a:r>
            <a:r>
              <a:rPr sz="1500" b="1" i="0">
                <a:solidFill>
                  <a:srgbClr val="0B0B0B"/>
                </a:solidFill>
                <a:latin typeface="Calibri"/>
              </a:rPr>
              <a:t>CB-SAFE proves the laundering boundary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Results: accuracy ties FedGT with </a:t>
            </a:r>
            <a:r>
              <a:rPr sz="1500" b="1" i="0">
                <a:solidFill>
                  <a:srgbClr val="0B0B0B"/>
                </a:solidFill>
                <a:latin typeface="Calibri"/>
              </a:rPr>
              <a:t>fewer false exclusions and ~4× lower cost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.</a:t>
            </a:r>
          </a:p>
        </p:txBody>
      </p:sp>
      <p:pic>
        <p:nvPicPr>
          <p:cNvPr id="4" name="Picture 3" descr="fig_signflip_acc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463040"/>
            <a:ext cx="4480560" cy="36690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Calibri"/>
              </a:rPr>
              <a:t>12 / 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Calibri"/>
              </a:rPr>
              <a:t>Contributions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6400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0B0B0B"/>
                </a:solidFill>
                <a:latin typeface="Calibri"/>
              </a:rPr>
              <a:t>First code-based post-quantum secure aggregation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 for FL: cryptographic diversity beyond lattices.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The </a:t>
            </a:r>
            <a:r>
              <a:rPr sz="1500" b="1" i="0">
                <a:solidFill>
                  <a:srgbClr val="0B0B0B"/>
                </a:solidFill>
                <a:latin typeface="Calibri"/>
              </a:rPr>
              <a:t>laundering theorem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: at γ*=2c/m−1 a poisoned cluster mean is magnitude-invisible, explaining why robust rules fail.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0B0B0B"/>
                </a:solidFill>
                <a:latin typeface="Calibri"/>
              </a:rPr>
              <a:t>Temporal group testing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 over re-randomized clusters (extending FedGT [1]) with a root-loss probe [5]: identifies attackers the server never sees.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A </a:t>
            </a:r>
            <a:r>
              <a:rPr sz="1500" b="1" i="0">
                <a:solidFill>
                  <a:srgbClr val="0B0B0B"/>
                </a:solidFill>
                <a:latin typeface="Calibri"/>
              </a:rPr>
              <a:t>trust-free variant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 that needs no root dataset, a capability FedGT does not offer.</a:t>
            </a:r>
          </a:p>
        </p:txBody>
      </p:sp>
      <p:pic>
        <p:nvPicPr>
          <p:cNvPr id="4" name="Picture 3" descr="fig_launder_g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463040"/>
            <a:ext cx="4480560" cy="33124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[5] X. Cao, M. Fang, J. Liu, and N. Z. Gong, "FLTrust: Byzantine-robust federated learning via trust bootstrapping," in Proc. NDSS, 2021.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Calibri"/>
              </a:rPr>
              <a:t>13 / 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Calibri"/>
              </a:rPr>
              <a:t>Selection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Venue and recency: the basis paper [1] is Q1 (IEEE TIFS), 2025; supporting sources are top-tier (ACM CCS [2], NIST [3]).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Relevance: every borrowed idea maps directly onto a component of our exact problem.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Method strength: we match SOTA (FedGT) on robustness at ~4× lower cost, add PQC, and prove the failure mechanism.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Breadth and rigor: validated on four datasets and two modalities, multiple seeds, with significance testing.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[2] K. Bonawitz, V. Ivanov, B. Kreuter, A. Marcedone, H. B. McMahan, S. Patel, D. Ramage, A. Segal, and K. Seth, "Practical secure aggregation for privacy-preserving machine learning," in Proc. ACM CCS, 2017, pp. 1175–1191.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[3] National Institute of Standards and Technology, "Status report on the fourth round of the NIST post-quantum cryptography standardization process," NIST IR 8545, Mar. 2025.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Calibri"/>
              </a:rPr>
              <a:t>14 / 23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Calibri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26251F"/>
                </a:solidFill>
                <a:latin typeface="Calibri"/>
              </a:rPr>
              <a:t>End of the required method presentation. Slides 16–22 present the full paper and results.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Took: masking [2], group testing [1], and a code-based KEM [3].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Changed: temporal group testing over re-randomized clusters; HQC-seeded, KEM-agnostic masking.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New: the laundering theorem, the first code-based PQ secure aggregation, and trust-free detection.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Payoff: private, post-quantum, and Byzantine-robust FL that ties the state of the art at lower cost.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[2] K. Bonawitz, V. Ivanov, B. Kreuter, A. Marcedone, H. B. McMahan, S. Patel, D. Ramage, A. Segal, and K. Seth, "Practical secure aggregation for privacy-preserving machine learning," in Proc. ACM CCS, 2017, pp. 1175–1191.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[3] National Institute of Standards and Technology, "Status report on the fourth round of the NIST post-quantum cryptography standardization process," NIST IR 8545, Mar. 2025.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Calibri"/>
              </a:rPr>
              <a:t>15 / 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Calibri"/>
              </a:rP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26251F"/>
                </a:solidFill>
                <a:latin typeface="Calibri"/>
              </a:rPr>
              <a:t>One training round: confidentiality within clusters [2], temporal group testing over re-randomized clusters [1], robust aggregation.</a:t>
            </a:r>
          </a:p>
        </p:txBody>
      </p:sp>
      <p:pic>
        <p:nvPicPr>
          <p:cNvPr id="4" name="Picture 3" descr="fi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9714" y="2240280"/>
            <a:ext cx="7832267" cy="3611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[2] K. Bonawitz, V. Ivanov, B. Kreuter, A. Marcedone, H. B. McMahan, S. Patel, D. Ramage, A. Segal, and K. Seth, "Practical secure aggregation for privacy-preserving machine learning," in Proc. ACM CCS, 2017, pp. 1175–1191.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Calibri"/>
              </a:rPr>
              <a:t>16 / 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Calibri"/>
              </a:rPr>
              <a:t>Experimental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69494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Images: CIFAR-10, FashionMNIST, EMNIST-balanced (47 classes). Tabular: Edge-IIoTset (IoT intrusion).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Non-IID split via a Dirichlet(0.5) partition; 30 communication rounds; clusters of size c = 3.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Attacks: sign-flip (laundering), label-flip, backdoor. Baselines: mean, trimmed, median [6], Krum, Bulyan, RFA, FLTrust, FedGT [1].</a:t>
            </a:r>
          </a:p>
        </p:txBody>
      </p:sp>
      <p:pic>
        <p:nvPicPr>
          <p:cNvPr id="4" name="Picture 3" descr="shot_dirichlet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463040"/>
            <a:ext cx="4480560" cy="47856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[6] D. Yin, Y. Chen, R. Kannan, and P. Bartlett, "Byzantine-robust distributed learning: Towards optimal statistical rates," in Proc. ICML, 2018, pp. 5650–5659.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Calibri"/>
              </a:rPr>
              <a:t>17 / 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Calibri"/>
              </a:rPr>
              <a:t>Results: Robustness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26251F"/>
                </a:solidFill>
                <a:latin typeface="Calibri"/>
              </a:rPr>
              <a:t>Sign-flip test accuracy across four datasets (from the paper, Table V).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Under sign-flip at f ≥ 0.2 every coordinate-wise rule collapses to chance; CB-SAFE+ holds and ties FedGT [1].</a:t>
            </a:r>
          </a:p>
        </p:txBody>
      </p:sp>
      <p:pic>
        <p:nvPicPr>
          <p:cNvPr id="5" name="Picture 4" descr="shot_signflip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602" y="2331720"/>
            <a:ext cx="10528491" cy="3246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Calibri"/>
              </a:rPr>
              <a:t>18 / 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Calibri"/>
              </a:rPr>
              <a:t>Results: Training 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26251F"/>
                </a:solidFill>
                <a:latin typeface="Calibri"/>
              </a:rPr>
              <a:t>Test accuracy vs. round for eight rules including FedGT [1], over three datasets (rows) and three malicious fractions (columns); CB-SAFE+ tracks the clean baseline while the others diverge (from the paper, Fig. 7).</a:t>
            </a:r>
          </a:p>
        </p:txBody>
      </p:sp>
      <p:pic>
        <p:nvPicPr>
          <p:cNvPr id="4" name="Picture 3" descr="shot_dynamics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2817" y="1965960"/>
            <a:ext cx="4986061" cy="3913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Calibri"/>
              </a:rPr>
              <a:t>19 / 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Calibri"/>
              </a:rPr>
              <a:t>Results: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26251F"/>
                </a:solidFill>
                <a:latin typeface="Calibri"/>
              </a:rPr>
              <a:t>Temporal suspicion separation (from the paper, Fig. 8).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Malicious and honest suspicion separate within a few rounds; attackers are named from group-level observations alone, following the group-testing idea of FedGT [1].</a:t>
            </a:r>
          </a:p>
        </p:txBody>
      </p:sp>
      <p:pic>
        <p:nvPicPr>
          <p:cNvPr id="5" name="Picture 4" descr="shot_suspicion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6507" y="2514600"/>
            <a:ext cx="7578681" cy="3108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Calibri"/>
              </a:rPr>
              <a:t>20 / 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Calibri"/>
              </a:rPr>
              <a:t>Results: Generalization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26251F"/>
                </a:solidFill>
                <a:latin typeface="Calibri"/>
              </a:rPr>
              <a:t>Label-flip test accuracy (from the paper, Table VI); CB-SAFE+ matches FedGT [1] and leads at the hardest setting (f=0.3).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Label-flip is milder: no coordinate-wise rule collapses, which isolates laundering as the cause of the sign-flip failures.</a:t>
            </a:r>
          </a:p>
        </p:txBody>
      </p:sp>
      <p:pic>
        <p:nvPicPr>
          <p:cNvPr id="5" name="Picture 4" descr="shot_labelflip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746" y="2331720"/>
            <a:ext cx="10026203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Calibri"/>
              </a:rPr>
              <a:t>21 / 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Calibri"/>
              </a:rPr>
              <a:t>Results: 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26251F"/>
                </a:solidFill>
                <a:latin typeface="Calibri"/>
              </a:rPr>
              <a:t>Measured per-client overhead (from the paper, Table II).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Code-based (HQC [3]) confidentiality gives crypto diversity beyond lattices; ML-KEM [9] swaps in unchanged.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One-time setup is paid once and stays under 0.03% of total traffic; per-round bytes are KEM-independent.</a:t>
            </a:r>
          </a:p>
        </p:txBody>
      </p:sp>
      <p:pic>
        <p:nvPicPr>
          <p:cNvPr id="5" name="Picture 4" descr="shot_overhead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6259" y="3063240"/>
            <a:ext cx="6479177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[3] National Institute of Standards and Technology, "Status report on the fourth round of the NIST post-quantum cryptography standardization process," NIST IR 8545, Mar. 2025.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[9] National Institute of Standards and Technology, "Module-lattice-based key-encapsulation mechanism standard," FIPS 203, Aug. 2024.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Calibri"/>
              </a:rPr>
              <a:t>22 /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Calibri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CB-SAFE unifies code-based PQ secure aggregation [2], [3] with temporal group-testing robustness [1] in one protocol.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It ties the state of the art (FedGT) on robustness and detection, at lower cost, and adds crypto diversity plus a failure theory.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Limitations: update authentication is out of the code-based scope; EMNIST detection uses a single seed.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Calibri"/>
              </a:rPr>
              <a:t>Future work: code-based signatures for authentication, larger client populations, and adaptive attackers.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[2] K. Bonawitz, V. Ivanov, B. Kreuter, A. Marcedone, H. B. McMahan, S. Patel, D. Ramage, A. Segal, and K. Seth, "Practical secure aggregation for privacy-preserving machine learning," in Proc. ACM CCS, 2017, pp. 1175–1191.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6251F"/>
                </a:solidFill>
                <a:latin typeface="Calibri"/>
              </a:rPr>
              <a:t>[3] National Institute of Standards and Technology, "Status report on the fourth round of the NIST post-quantum cryptography standardization process," NIST IR 8545, Mar. 2025.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Calibri"/>
              </a:rPr>
              <a:t>23 / 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Calibri"/>
              </a:rP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50" b="0" i="0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800"/>
              </a:spcAft>
            </a:pPr>
            <a:r>
              <a:rPr sz="1150" b="0" i="0">
                <a:solidFill>
                  <a:srgbClr val="26251F"/>
                </a:solidFill>
                <a:latin typeface="Calibri"/>
              </a:rPr>
              <a:t>[2] K. Bonawitz, V. Ivanov, B. Kreuter, A. Marcedone, H. B. McMahan, S. Patel, D. Ramage, A. Segal, and K. Seth, "Practical secure aggregation for privacy-preserving machine learning," in Proc. ACM CCS, 2017, pp. 1175–1191.</a:t>
            </a:r>
          </a:p>
          <a:p>
            <a:pPr>
              <a:spcAft>
                <a:spcPts val="800"/>
              </a:spcAft>
            </a:pPr>
            <a:r>
              <a:rPr sz="1150" b="0" i="0">
                <a:solidFill>
                  <a:srgbClr val="26251F"/>
                </a:solidFill>
                <a:latin typeface="Calibri"/>
              </a:rPr>
              <a:t>[3] National Institute of Standards and Technology, "Status report on the fourth round of the NIST post-quantum cryptography standardization process," NIST IR 8545, Mar. 2025.</a:t>
            </a:r>
          </a:p>
          <a:p>
            <a:pPr>
              <a:spcAft>
                <a:spcPts val="800"/>
              </a:spcAft>
            </a:pPr>
            <a:r>
              <a:rPr sz="1150" b="0" i="0">
                <a:solidFill>
                  <a:srgbClr val="26251F"/>
                </a:solidFill>
                <a:latin typeface="Calibri"/>
              </a:rPr>
              <a:t>[4] P. W. Shor, "Polynomial-time algorithms for prime factorization and discrete logarithms on a quantum computer," SIAM J. Comput., vol. 26, no. 5, pp. 1484–1509, 1997.</a:t>
            </a:r>
          </a:p>
          <a:p>
            <a:pPr>
              <a:spcAft>
                <a:spcPts val="800"/>
              </a:spcAft>
            </a:pPr>
            <a:r>
              <a:rPr sz="1150" b="0" i="0">
                <a:solidFill>
                  <a:srgbClr val="26251F"/>
                </a:solidFill>
                <a:latin typeface="Calibri"/>
              </a:rPr>
              <a:t>[5] X. Cao, M. Fang, J. Liu, and N. Z. Gong, "FLTrust: Byzantine-robust federated learning via trust bootstrapping," in Proc. NDSS, 2021.</a:t>
            </a:r>
          </a:p>
          <a:p>
            <a:pPr>
              <a:spcAft>
                <a:spcPts val="800"/>
              </a:spcAft>
            </a:pPr>
            <a:r>
              <a:rPr sz="1150" b="0" i="0">
                <a:solidFill>
                  <a:srgbClr val="26251F"/>
                </a:solidFill>
                <a:latin typeface="Calibri"/>
              </a:rPr>
              <a:t>[6] D. Yin, Y. Chen, R. Kannan, and P. Bartlett, "Byzantine-robust distributed learning: Towards optimal statistical rates," in Proc. ICML, 2018, pp. 5650–5659.</a:t>
            </a:r>
          </a:p>
          <a:p>
            <a:pPr>
              <a:spcAft>
                <a:spcPts val="800"/>
              </a:spcAft>
            </a:pPr>
            <a:r>
              <a:rPr sz="1150" b="0" i="0">
                <a:solidFill>
                  <a:srgbClr val="26251F"/>
                </a:solidFill>
                <a:latin typeface="Calibri"/>
              </a:rPr>
              <a:t>[7] P. Blanchard, E. M. El Mhamdi, R. Guerraoui, and J. Stainer, "Machine learning with adversaries: Byzantine tolerant gradient descent," in Proc. NeurIPS, 2017, pp. 119–129.</a:t>
            </a:r>
          </a:p>
          <a:p>
            <a:pPr>
              <a:spcAft>
                <a:spcPts val="800"/>
              </a:spcAft>
            </a:pPr>
            <a:r>
              <a:rPr sz="1150" b="0" i="0">
                <a:solidFill>
                  <a:srgbClr val="26251F"/>
                </a:solidFill>
                <a:latin typeface="Calibri"/>
              </a:rPr>
              <a:t>[8] K. Pillutla, S. M. Kakade, and Z. Harchaoui, "Robust aggregation for federated learning," IEEE Trans. Signal Process., vol. 70, pp. 1142–1154, 2022.</a:t>
            </a:r>
          </a:p>
          <a:p>
            <a:pPr>
              <a:spcAft>
                <a:spcPts val="800"/>
              </a:spcAft>
            </a:pPr>
            <a:r>
              <a:rPr sz="1150" b="0" i="0">
                <a:solidFill>
                  <a:srgbClr val="26251F"/>
                </a:solidFill>
                <a:latin typeface="Calibri"/>
              </a:rPr>
              <a:t>[9] National Institute of Standards and Technology, "Module-lattice-based key-encapsulation mechanism standard," FIPS 203, Aug. 2024.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