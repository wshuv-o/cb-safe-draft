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737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A78D6"/>
                </a:solidFill>
                <a:latin typeface="Calibri"/>
              </a:rPr>
              <a:t>POST-QUANTUM CRYPTOGRAPHY × FEDERATED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2402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0B0B0B"/>
                </a:solidFill>
                <a:latin typeface="Calibri"/>
              </a:rPr>
              <a:t>CB-SAFE: Code-Based Post-Quantum Secure Aggregation for Byzantine-Robust Federated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26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6251F"/>
                </a:solidFill>
                <a:latin typeface="Calibri"/>
              </a:rPr>
              <a:t>Md Wahiduzzaman Suva (26-94088-2)   ·   Esm-e Moula Chowdhury Abha (26-94089-2)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983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898781"/>
                </a:solidFill>
                <a:latin typeface="Calibri"/>
              </a:rPr>
              <a:t>Department of Computer Science, American International University–Bangladesh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0B0B0B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Federated learning shares model updates, not raw data, yet </a:t>
            </a:r>
            <a:r>
              <a:rPr sz="1800" b="1" i="0">
                <a:solidFill>
                  <a:srgbClr val="0B0B0B"/>
                </a:solidFill>
                <a:latin typeface="Calibri"/>
              </a:rPr>
              <a:t>those updates still leak private training data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Secure aggregation [2] hides updates behind masks, but its key exchange </a:t>
            </a:r>
            <a:r>
              <a:rPr sz="1800" b="1" i="0">
                <a:solidFill>
                  <a:srgbClr val="0B0B0B"/>
                </a:solidFill>
                <a:latin typeface="Calibri"/>
              </a:rPr>
              <a:t>breaks under a quantum computer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 (harvest-now, decrypt-later).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Every post-quantum fix today is </a:t>
            </a:r>
            <a:r>
              <a:rPr sz="1800" b="1" i="0">
                <a:solidFill>
                  <a:srgbClr val="0B0B0B"/>
                </a:solidFill>
                <a:latin typeface="Calibri"/>
              </a:rPr>
              <a:t>lattice-only, a monoculture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; and hiding updates also blinds the server to poisoned ones.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Goal: one protocol that is </a:t>
            </a:r>
            <a:r>
              <a:rPr sz="1800" b="1" i="0">
                <a:solidFill>
                  <a:srgbClr val="0B0B0B"/>
                </a:solidFill>
                <a:latin typeface="Calibri"/>
              </a:rPr>
              <a:t>private, post-quantum with crypto diversity, and Byzantine-robust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8887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[2] K. Bonawitz, V. Ivanov, B. Kreuter, A. Marcedone, H. B. McMahan, S. Patel, D. Ramage, A. Segal, and K. Seth, "Practical secure aggregation for privacy-preserving machine learning," in Proc. ACM CCS, 2017, pp. 1175–1191.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190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98781"/>
                </a:solidFill>
                <a:latin typeface="Calibri"/>
              </a:rPr>
              <a:t>1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0B0B0B"/>
                </a:solidFill>
                <a:latin typeface="Calibri"/>
              </a:rPr>
              <a:t>Background and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Secure aggregation = pairwise masks that cancel in the sum; the server sees only the aggregate, never an individual.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Quantum threat: Shor's algorithm [4] breaks classical key exchange, and traffic recorded today is decryptable later.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Crypto diversity: NIST selected the code-based KEM HQC in 2025 [3] to hedge a lattice break; that diversity has not reached FL.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Robustness tension: privacy hides exactly the per-client signal that poisoning defenses need.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8887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[3] National Institute of Standards and Technology, "Status report on the fourth round of the NIST post-quantum cryptography standardization process," NIST IR 8545, Mar. 2025.</a:t>
            </a:r>
          </a:p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[4] P. W. Shor, "Polynomial-time algorithms for prime factorization and discrete logarithms on a quantum computer," SIAM J. Comput., vol. 26, no. 5, pp. 1484–1509, 1997.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190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98781"/>
                </a:solidFill>
                <a:latin typeface="Calibri"/>
              </a:rPr>
              <a:t>2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0B0B0B"/>
                </a:solidFill>
                <a:latin typeface="Calibri"/>
              </a:rPr>
              <a:t>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Secure aggregation lets the server learn only the sum, hiding each client's update [2]; later designs cut its overhead.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Byzantine-robust aggregation resists poisoning but ignores privacy: coordinate-wise median [6] and Multi-Krum [7].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Group testing identifies a few malicious clients from pooled tests; FedGT [1] brings this idea to secure-aggregation FL.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Gap: no prior work delivers code-based post-quantum confidentiality and Byzantine robustness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8887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[1] M. Xhemrishi, J. Östman, A. Wachter-Zeh, and A. Graell i Amat, "FedGT: Identification of malicious clients in federated learning with secure aggregation," IEEE Trans. Inf. Forensics Security, vol. 20, pp. 2577–2592, 2025.</a:t>
            </a:r>
          </a:p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[2] K. Bonawitz, V. Ivanov, B. Kreuter, A. Marcedone, H. B. McMahan, S. Patel, D. Ramage, A. Segal, and K. Seth, "Practical secure aggregation for privacy-preserving machine learning," in Proc. ACM CCS, 2017, pp. 1175–1191.</a:t>
            </a:r>
          </a:p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[6] D. Yin, Y. Chen, R. Kannan, and P. Bartlett, "Byzantine-robust distributed learning: Towards optimal statistical rates," in Proc. ICML, 2018, pp. 5650–5659.</a:t>
            </a:r>
          </a:p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[7] P. Blanchard, E. M. El Mhamdi, R. Guerraoui, and J. Stainer, "Machine learning with adversaries: Byzantine tolerant gradient descent," in Proc. NeurIPS, 2017, pp. 119–129.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190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98781"/>
                </a:solidFill>
                <a:latin typeface="Calibri"/>
              </a:rPr>
              <a:t>3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0B0B0B"/>
                </a:solidFill>
                <a:latin typeface="Calibri"/>
              </a:rPr>
              <a:t>Related Work: Closest Peer (FedGT)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FedGT [1] (IEEE TIFS, 2025) is the closest peer to our robustness mechanism.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Idea: group clients into overlapping test groups; the server sees only group aggregates, so privacy is preserved.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A statistical test flags groups that contain malicious clients; a decoder then identifies and removes the culprits.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Borrowed from group testing: find a few defectives with far fewer pooled tests than testing everyone.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8887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[1] M. Xhemrishi, J. Östman, A. Wachter-Zeh, and A. Graell i Amat, "FedGT: Identification of malicious clients in federated learning with secure aggregation," IEEE Trans. Inf. Forensics Security, vol. 20, pp. 2577–2592, 2025.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190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98781"/>
                </a:solidFill>
                <a:latin typeface="Calibri"/>
              </a:rPr>
              <a:t>4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0B0B0B"/>
                </a:solidFill>
                <a:latin typeface="Calibri"/>
              </a:rPr>
              <a:t>Methodology (Base Paper)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In FedGT [1], an assignment matrix groups n clients into m overlapping groups (the parity-check structure of a code).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Each group is securely aggregated; a test on the group aggregate is positive if any member is malicious.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A COMP / Neyman-Pearson decoder infers which clients are malicious from the group test results.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Flagged clients are excluded; the remaining clean clients are aggregated into the global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8887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[1] M. Xhemrishi, J. Östman, A. Wachter-Zeh, and A. Graell i Amat, "FedGT: Identification of malicious clients in federated learning with secure aggregation," IEEE Trans. Inf. Forensics Security, vol. 20, pp. 2577–2592, 2025.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190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98781"/>
                </a:solidFill>
                <a:latin typeface="Calibri"/>
              </a:rPr>
              <a:t>5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0B0B0B"/>
                </a:solidFill>
                <a:latin typeface="Calibri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Crypto: FedGT [1] treats secure aggregation as a black box, with </a:t>
            </a:r>
            <a:r>
              <a:rPr sz="1800" b="1" i="0">
                <a:solidFill>
                  <a:srgbClr val="0B0B0B"/>
                </a:solidFill>
                <a:latin typeface="Calibri"/>
              </a:rPr>
              <a:t>no post-quantum layer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, in a lattice-only field.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Cost: it needs a </a:t>
            </a:r>
            <a:r>
              <a:rPr sz="1800" b="1" i="0">
                <a:solidFill>
                  <a:srgbClr val="0B0B0B"/>
                </a:solidFill>
                <a:latin typeface="Calibri"/>
              </a:rPr>
              <a:t>server validation set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 and per-round group testing over fixed overlapping groups.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Single-round decode: it identifies attackers from </a:t>
            </a:r>
            <a:r>
              <a:rPr sz="1800" b="1" i="0">
                <a:solidFill>
                  <a:srgbClr val="0B0B0B"/>
                </a:solidFill>
                <a:latin typeface="Calibri"/>
              </a:rPr>
              <a:t>one round's tests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, using no information across rounds.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Unexplained failure: it does not characterize </a:t>
            </a:r>
            <a:r>
              <a:rPr sz="1800" b="1" i="0">
                <a:solidFill>
                  <a:srgbClr val="0B0B0B"/>
                </a:solidFill>
                <a:latin typeface="Calibri"/>
              </a:rPr>
              <a:t>why ordinary robust aggregation breaks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 once updates are hidden.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8887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[1] M. Xhemrishi, J. Östman, A. Wachter-Zeh, and A. Graell i Amat, "FedGT: Identification of malicious clients in federated learning with secure aggregation," IEEE Trans. Inf. Forensics Security, vol. 20, pp. 2577–2592, 2025.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190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98781"/>
                </a:solidFill>
                <a:latin typeface="Calibri"/>
              </a:rPr>
              <a:t>6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0B0B0B"/>
                </a:solidFill>
                <a:latin typeface="Calibri"/>
              </a:rPr>
              <a:t>Research Question and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6251F"/>
                </a:solidFill>
                <a:latin typeface="Calibri"/>
              </a:rPr>
              <a:t>Can one protocol be private, post-quantum, and Byzantine-robust at the same time?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47672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0B0B0B"/>
                </a:solidFill>
                <a:latin typeface="Calibri"/>
              </a:rPr>
              <a:t>RQ1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 Can code-based (non-lattice) cryptography secure FL aggregation at a practical cost?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0B0B0B"/>
                </a:solidFill>
                <a:latin typeface="Calibri"/>
              </a:rPr>
              <a:t>RQ2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 Why do robust aggregation rules fail once updates are hidden inside secure cluster sums?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0B0B0B"/>
                </a:solidFill>
                <a:latin typeface="Calibri"/>
              </a:rPr>
              <a:t>RQ3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 Can malicious clients be identified from group-level observations alone, without a validation set?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0B0B0B"/>
                </a:solidFill>
                <a:latin typeface="Calibri"/>
              </a:rPr>
              <a:t>Objective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 Design CB-SAFE(+) to answer all three, and validate it on four datasets against eight baselines.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190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98781"/>
                </a:solidFill>
                <a:latin typeface="Calibri"/>
              </a:rPr>
              <a:t>7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0B0B0B"/>
                </a:solidFill>
                <a:latin typeface="Calibri"/>
              </a:rPr>
              <a:t>Proposed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6251F"/>
                </a:solidFill>
                <a:latin typeface="Calibri"/>
              </a:rPr>
              <a:t>One framework that is private, post-quantum, and Byzantine-robust at the same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47672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Hide updates within clusters using a code-based (HQC) masking protocol [2]: the server sees only cluster sums.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Run group testing [1] across re-randomized clusters over rounds to identify attackers (CB-SAFE+).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Confidentiality lives below the cluster boundary; robustness operates above it; post-quantum by construction.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8887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[1] M. Xhemrishi, J. Östman, A. Wachter-Zeh, and A. Graell i Amat, "FedGT: Identification of malicious clients in federated learning with secure aggregation," IEEE Trans. Inf. Forensics Security, vol. 20, pp. 2577–2592, 2025.</a:t>
            </a:r>
          </a:p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[2] K. Bonawitz, V. Ivanov, B. Kreuter, A. Marcedone, H. B. McMahan, S. Patel, D. Ramage, A. Segal, and K. Seth, "Practical secure aggregation for privacy-preserving machine learning," in Proc. ACM CCS, 2017, pp. 1175–1191.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190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98781"/>
                </a:solidFill>
                <a:latin typeface="Calibri"/>
              </a:rPr>
              <a:t>8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0B0B0B"/>
                </a:solidFill>
                <a:latin typeface="Calibri"/>
              </a:rPr>
              <a:t>System Architecture (Ours)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6251F"/>
                </a:solidFill>
                <a:latin typeface="Calibri"/>
              </a:rPr>
              <a:t>One training round: confidentiality within clusters [2], temporal group testing over re-randomized clusters [1], robust aggregation.</a:t>
            </a:r>
          </a:p>
        </p:txBody>
      </p:sp>
      <p:pic>
        <p:nvPicPr>
          <p:cNvPr id="4" name="Picture 3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632" y="1828800"/>
            <a:ext cx="5908429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8887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[1] M. Xhemrishi, J. Östman, A. Wachter-Zeh, and A. Graell i Amat, "FedGT: Identification of malicious clients in federated learning with secure aggregation," IEEE Trans. Inf. Forensics Security, vol. 20, pp. 2577–2592, 2025.</a:t>
            </a:r>
          </a:p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[2] K. Bonawitz, V. Ivanov, B. Kreuter, A. Marcedone, H. B. McMahan, S. Patel, D. Ramage, A. Segal, and K. Seth, "Practical secure aggregation for privacy-preserving machine learning," in Proc. ACM CCS, 2017, pp. 1175–1191.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190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98781"/>
                </a:solidFill>
                <a:latin typeface="Calibri"/>
              </a:rPr>
              <a:t>9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0B0B0B"/>
                </a:solidFill>
                <a:latin typeface="Calibri"/>
              </a:rPr>
              <a:t>Methodology (Ours): Masking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We adopt Bonawitz-style double masking [2]: pairwise masks cancel in the cluster sum, so individuals stay hidden.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Dropout resilience via Shamir secret sharing of the self-masks.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Our change: masks are seeded from a KEM, so per-round traffic carries no cryptographic bytes at all.</a:t>
            </a:r>
          </a:p>
        </p:txBody>
      </p:sp>
      <p:pic>
        <p:nvPicPr>
          <p:cNvPr id="4" name="Picture 3" descr="fig_mas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508760"/>
            <a:ext cx="4434840" cy="32406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8887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[2] K. Bonawitz, V. Ivanov, B. Kreuter, A. Marcedone, H. B. McMahan, S. Patel, D. Ramage, A. Segal, and K. Seth, "Practical secure aggregation for privacy-preserving machine learning," in Proc. ACM CCS, 2017, pp. 1175–1191.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190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98781"/>
                </a:solidFill>
                <a:latin typeface="Calibri"/>
              </a:rPr>
              <a:t>10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0B0B0B"/>
                </a:solidFill>
                <a:latin typeface="Calibri"/>
              </a:rPr>
              <a:t>Methodology (Ours):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We adopt the core idea from FedGT [1]: identify malicious clients from group-level observations, never from individual updates.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The groups are the privacy-preserving cluster sums (the pools); a probe flags contaminated pools.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Our change: tests repeat over re-randomized clusters and accumulate across rounds (temporal group testing).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8887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[1] M. Xhemrishi, J. Östman, A. Wachter-Zeh, and A. Graell i Amat, "FedGT: Identification of malicious clients in federated learning with secure aggregation," IEEE Trans. Inf. Forensics Security, vol. 20, pp. 2577–2592, 2025.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190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98781"/>
                </a:solidFill>
                <a:latin typeface="Calibri"/>
              </a:rPr>
              <a:t>11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0B0B0B"/>
                </a:solidFill>
                <a:latin typeface="Calibri"/>
              </a:rPr>
              <a:t>Methodology (Ours): Cryptography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We adopt HQC, the code-based KEM NIST selected in 2025 [3], for post-quantum confidentiality.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Its security rests on syndrome decoding of quasi-cyclic codes, not lattices: genuine cryptographic diversity.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Our change: HQC sits behind a KEM-agnostic interface, so ML-KEM [9] swaps in with one configuration 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8887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[3] National Institute of Standards and Technology, "Status report on the fourth round of the NIST post-quantum cryptography standardization process," NIST IR 8545, Mar. 2025.</a:t>
            </a:r>
          </a:p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[9] National Institute of Standards and Technology, "Module-lattice-based key-encapsulation mechanism standard," FIPS 203, Aug. 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190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98781"/>
                </a:solidFill>
                <a:latin typeface="Calibri"/>
              </a:rPr>
              <a:t>12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0B0B0B"/>
                </a:solidFill>
                <a:latin typeface="Calibri"/>
              </a:rPr>
              <a:t>Methodology (Ours):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6251F"/>
                </a:solidFill>
                <a:latin typeface="Calibri"/>
              </a:rPr>
              <a:t>Masking + group testing + a code-based KEM become one coherent framework.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47672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HQC-seeded masking [2], [3] hides updates inside clusters, so the server sees only cluster sums.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Group testing [1] then runs across those cluster sums, over re-randomized rounds, to name the attackers.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Net design: privacy below the cluster boundary, robustness above it, code-based crypto throughout.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On top we add our own pieces: the laundering theorem and a server root-loss probe.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8887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[1] M. Xhemrishi, J. Östman, A. Wachter-Zeh, and A. Graell i Amat, "FedGT: Identification of malicious clients in federated learning with secure aggregation," IEEE Trans. Inf. Forensics Security, vol. 20, pp. 2577–2592, 2025.</a:t>
            </a:r>
          </a:p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[2] K. Bonawitz, V. Ivanov, B. Kreuter, A. Marcedone, H. B. McMahan, S. Patel, D. Ramage, A. Segal, and K. Seth, "Practical secure aggregation for privacy-preserving machine learning," in Proc. ACM CCS, 2017, pp. 1175–1191.</a:t>
            </a:r>
          </a:p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[3] National Institute of Standards and Technology, "Status report on the fourth round of the NIST post-quantum cryptography standardization process," NIST IR 8545, Mar.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190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98781"/>
                </a:solidFill>
                <a:latin typeface="Calibri"/>
              </a:rPr>
              <a:t>13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0B0B0B"/>
                </a:solidFill>
                <a:latin typeface="Calibri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Crypto: FedGT [1] is crypto-agnostic → </a:t>
            </a:r>
            <a:r>
              <a:rPr sz="1800" b="1" i="0">
                <a:solidFill>
                  <a:srgbClr val="0B0B0B"/>
                </a:solidFill>
                <a:latin typeface="Calibri"/>
              </a:rPr>
              <a:t>CB-SAFE is code-based post-quantum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Detection: FedGT uses single-round COMP + a validation set → </a:t>
            </a:r>
            <a:r>
              <a:rPr sz="1800" b="1" i="0">
                <a:solidFill>
                  <a:srgbClr val="0B0B0B"/>
                </a:solidFill>
                <a:latin typeface="Calibri"/>
              </a:rPr>
              <a:t>CB-SAFE uses temporal accumulation + a root-loss probe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Theory: FedGT gives no failure model → </a:t>
            </a:r>
            <a:r>
              <a:rPr sz="1800" b="1" i="0">
                <a:solidFill>
                  <a:srgbClr val="0B0B0B"/>
                </a:solidFill>
                <a:latin typeface="Calibri"/>
              </a:rPr>
              <a:t>CB-SAFE proves the laundering boundary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Results: accuracy ties FedGT with </a:t>
            </a:r>
            <a:r>
              <a:rPr sz="1800" b="1" i="0">
                <a:solidFill>
                  <a:srgbClr val="0B0B0B"/>
                </a:solidFill>
                <a:latin typeface="Calibri"/>
              </a:rPr>
              <a:t>fewer false exclusions and ~4× lower cost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.</a:t>
            </a:r>
          </a:p>
        </p:txBody>
      </p:sp>
      <p:pic>
        <p:nvPicPr>
          <p:cNvPr id="4" name="Picture 3" descr="fig_signflip_acc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508760"/>
            <a:ext cx="4434840" cy="36315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8887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[1] M. Xhemrishi, J. Östman, A. Wachter-Zeh, and A. Graell i Amat, "FedGT: Identification of malicious clients in federated learning with secure aggregation," IEEE Trans. Inf. Forensics Security, vol. 20, pp. 2577–2592,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190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98781"/>
                </a:solidFill>
                <a:latin typeface="Calibri"/>
              </a:rPr>
              <a:t>14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0B0B0B"/>
                </a:solidFill>
                <a:latin typeface="Calibri"/>
              </a:rPr>
              <a:t>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0B0B0B"/>
                </a:solidFill>
                <a:latin typeface="Calibri"/>
              </a:rPr>
              <a:t>First code-based post-quantum secure aggregation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 for FL: cryptographic diversity beyond lattices.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The </a:t>
            </a:r>
            <a:r>
              <a:rPr sz="1800" b="1" i="0">
                <a:solidFill>
                  <a:srgbClr val="0B0B0B"/>
                </a:solidFill>
                <a:latin typeface="Calibri"/>
              </a:rPr>
              <a:t>laundering theorem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: at γ*=2c/m−1 a poisoned cluster mean is magnitude-invisible, explaining why robust rules fail.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0B0B0B"/>
                </a:solidFill>
                <a:latin typeface="Calibri"/>
              </a:rPr>
              <a:t>Temporal group testing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 over re-randomized clusters (extending FedGT [1]) with a root-loss probe [5]: identifies attackers the server never sees.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A </a:t>
            </a:r>
            <a:r>
              <a:rPr sz="1800" b="1" i="0">
                <a:solidFill>
                  <a:srgbClr val="0B0B0B"/>
                </a:solidFill>
                <a:latin typeface="Calibri"/>
              </a:rPr>
              <a:t>trust-free variant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 that needs no root dataset, a capability FedGT does not offer.</a:t>
            </a:r>
          </a:p>
        </p:txBody>
      </p:sp>
      <p:pic>
        <p:nvPicPr>
          <p:cNvPr id="4" name="Picture 3" descr="fig_launder_g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508760"/>
            <a:ext cx="4434840" cy="3278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8887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[1] M. Xhemrishi, J. Östman, A. Wachter-Zeh, and A. Graell i Amat, "FedGT: Identification of malicious clients in federated learning with secure aggregation," IEEE Trans. Inf. Forensics Security, vol. 20, pp. 2577–2592, 2025.</a:t>
            </a:r>
          </a:p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[5] X. Cao, M. Fang, J. Liu, and N. Z. Gong, "FLTrust: Byzantine-robust federated learning via trust bootstrapping," in Proc. NDSS, 2021.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190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98781"/>
                </a:solidFill>
                <a:latin typeface="Calibri"/>
              </a:rPr>
              <a:t>15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0B0B0B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6251F"/>
                </a:solidFill>
                <a:latin typeface="Calibri"/>
              </a:rPr>
              <a:t>End of the method presentation; the full-paper results and figures follow.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47672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Took: masking [2], group testing [1], and a code-based KEM [3].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Changed: temporal group testing over re-randomized clusters; HQC-seeded, KEM-agnostic masking.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New: the laundering theorem, the first code-based PQ secure aggregation, and trust-free detection.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Payoff: private, post-quantum, and Byzantine-robust FL that ties the state of the art at lower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8887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[1] M. Xhemrishi, J. Östman, A. Wachter-Zeh, and A. Graell i Amat, "FedGT: Identification of malicious clients in federated learning with secure aggregation," IEEE Trans. Inf. Forensics Security, vol. 20, pp. 2577–2592, 2025.</a:t>
            </a:r>
          </a:p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[2] K. Bonawitz, V. Ivanov, B. Kreuter, A. Marcedone, H. B. McMahan, S. Patel, D. Ramage, A. Segal, and K. Seth, "Practical secure aggregation for privacy-preserving machine learning," in Proc. ACM CCS, 2017, pp. 1175–1191.</a:t>
            </a:r>
          </a:p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[3] National Institute of Standards and Technology, "Status report on the fourth round of the NIST post-quantum cryptography standardization process," NIST IR 8545, Mar.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190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98781"/>
                </a:solidFill>
                <a:latin typeface="Calibri"/>
              </a:rPr>
              <a:t>16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0B0B0B"/>
                </a:solidFill>
                <a:latin typeface="Calibri"/>
              </a:rPr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949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Images: CIFAR-10, FashionMNIST, EMNIST-balanced (47 classes). Tabular: Edge-IIoTset (IoT intrusion).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Non-IID split via a Dirichlet(0.5) partition; 30 communication rounds; clusters of size c = 3.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Attacks: sign-flip (laundering), label-flip, backdoor. Baselines: mean, trimmed, median [6], Krum, Bulyan, RFA, FLTrust, FedGT [1].</a:t>
            </a:r>
          </a:p>
        </p:txBody>
      </p:sp>
      <p:pic>
        <p:nvPicPr>
          <p:cNvPr id="4" name="Picture 3" descr="shot_dirichlet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508760"/>
            <a:ext cx="4434840" cy="47367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8887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[1] M. Xhemrishi, J. Östman, A. Wachter-Zeh, and A. Graell i Amat, "FedGT: Identification of malicious clients in federated learning with secure aggregation," IEEE Trans. Inf. Forensics Security, vol. 20, pp. 2577–2592, 2025.</a:t>
            </a:r>
          </a:p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[6] D. Yin, Y. Chen, R. Kannan, and P. Bartlett, "Byzantine-robust distributed learning: Towards optimal statistical rates," in Proc. ICML, 2018, pp. 5650–5659.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190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98781"/>
                </a:solidFill>
                <a:latin typeface="Calibri"/>
              </a:rPr>
              <a:t>17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0B0B0B"/>
                </a:solidFill>
                <a:latin typeface="Calibri"/>
              </a:rPr>
              <a:t>Results: 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6251F"/>
                </a:solidFill>
                <a:latin typeface="Calibri"/>
              </a:rPr>
              <a:t>Sign-flip test accuracy across four datasets (from the paper, Table V).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47672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Under sign-flip at f ≥ 0.2 every coordinate-wise rule collapses to chance; CB-SAFE+ holds and ties FedGT [1].</a:t>
            </a:r>
          </a:p>
        </p:txBody>
      </p:sp>
      <p:pic>
        <p:nvPicPr>
          <p:cNvPr id="5" name="Picture 4" descr="shot_signfli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59" y="2468880"/>
            <a:ext cx="10149576" cy="3154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887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[1] M. Xhemrishi, J. Östman, A. Wachter-Zeh, and A. Graell i Amat, "FedGT: Identification of malicious clients in federated learning with secure aggregation," IEEE Trans. Inf. Forensics Security, vol. 20, pp. 2577–2592, 2025.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190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98781"/>
                </a:solidFill>
                <a:latin typeface="Calibri"/>
              </a:rPr>
              <a:t>18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0B0B0B"/>
                </a:solidFill>
                <a:latin typeface="Calibri"/>
              </a:rPr>
              <a:t>Results: Training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6251F"/>
                </a:solidFill>
                <a:latin typeface="Calibri"/>
              </a:rPr>
              <a:t>Accuracy vs. round for eight rules incl. FedGT [1], over three datasets and three malicious fractions; CB-SAFE+ tracks the clean baseline while the others diverge (paper, Fig. 7).</a:t>
            </a:r>
          </a:p>
        </p:txBody>
      </p:sp>
      <p:pic>
        <p:nvPicPr>
          <p:cNvPr id="4" name="Picture 3" descr="shot_dynamics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160" y="2240280"/>
            <a:ext cx="4543374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8887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[1] M. Xhemrishi, J. Östman, A. Wachter-Zeh, and A. Graell i Amat, "FedGT: Identification of malicious clients in federated learning with secure aggregation," IEEE Trans. Inf. Forensics Security, vol. 20, pp. 2577–2592,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190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98781"/>
                </a:solidFill>
                <a:latin typeface="Calibri"/>
              </a:rPr>
              <a:t>19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0B0B0B"/>
                </a:solidFill>
                <a:latin typeface="Calibri"/>
              </a:rPr>
              <a:t>Results: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6251F"/>
                </a:solidFill>
                <a:latin typeface="Calibri"/>
              </a:rPr>
              <a:t>Temporal suspicion separation (from the paper, Fig. 8).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47672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Malicious and honest suspicion separate within a few rounds; attackers are named from group-level observations alone, following the group-testing idea of FedGT [1].</a:t>
            </a:r>
          </a:p>
        </p:txBody>
      </p:sp>
      <p:pic>
        <p:nvPicPr>
          <p:cNvPr id="5" name="Picture 4" descr="shot_suspicion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684" y="2697480"/>
            <a:ext cx="7244327" cy="2971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887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[1] M. Xhemrishi, J. Östman, A. Wachter-Zeh, and A. Graell i Amat, "FedGT: Identification of malicious clients in federated learning with secure aggregation," IEEE Trans. Inf. Forensics Security, vol. 20, pp. 2577–2592, 2025.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190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98781"/>
                </a:solidFill>
                <a:latin typeface="Calibri"/>
              </a:rPr>
              <a:t>20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0B0B0B"/>
                </a:solidFill>
                <a:latin typeface="Calibri"/>
              </a:rPr>
              <a:t>Results: Generalization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6251F"/>
                </a:solidFill>
                <a:latin typeface="Calibri"/>
              </a:rPr>
              <a:t>Label-flip test accuracy (from the paper, Table VI); CB-SAFE+ matches FedGT [1] and leads at the hardest setting (f=0.3).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47672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Label-flip is milder: no coordinate-wise rule collapses, which isolates laundering as the cause of the sign-flip failures.</a:t>
            </a:r>
          </a:p>
        </p:txBody>
      </p:sp>
      <p:pic>
        <p:nvPicPr>
          <p:cNvPr id="5" name="Picture 4" descr="shot_labelfli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206" y="2468880"/>
            <a:ext cx="9291281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887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[1] M. Xhemrishi, J. Östman, A. Wachter-Zeh, and A. Graell i Amat, "FedGT: Identification of malicious clients in federated learning with secure aggregation," IEEE Trans. Inf. Forensics Security, vol. 20, pp. 2577–2592, 2025.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190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98781"/>
                </a:solidFill>
                <a:latin typeface="Calibri"/>
              </a:rPr>
              <a:t>21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0B0B0B"/>
                </a:solidFill>
                <a:latin typeface="Calibri"/>
              </a:rPr>
              <a:t>Results: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6251F"/>
                </a:solidFill>
                <a:latin typeface="Calibri"/>
              </a:rPr>
              <a:t>Measured per-client overhead (from the paper, Table II).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47672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Code-based (HQC [3]) confidentiality gives crypto diversity beyond lattices; ML-KEM [9] swaps in unchanged.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One-time setup is paid once and stays under 0.03% of total traffic; per-round bytes are KEM-independent.</a:t>
            </a:r>
          </a:p>
        </p:txBody>
      </p:sp>
      <p:pic>
        <p:nvPicPr>
          <p:cNvPr id="5" name="Picture 4" descr="shot_overhead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114" y="3154680"/>
            <a:ext cx="6175466" cy="2788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887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[3] National Institute of Standards and Technology, "Status report on the fourth round of the NIST post-quantum cryptography standardization process," NIST IR 8545, Mar. 2025.</a:t>
            </a:r>
          </a:p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[9] National Institute of Standards and Technology, "Module-lattice-based key-encapsulation mechanism standard," FIPS 203, Aug. 2024.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190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98781"/>
                </a:solidFill>
                <a:latin typeface="Calibri"/>
              </a:rPr>
              <a:t>22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0B0B0B"/>
                </a:solidFill>
                <a:latin typeface="Calibri"/>
              </a:rPr>
              <a:t>Results: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6251F"/>
                </a:solidFill>
                <a:latin typeface="Calibri"/>
              </a:rPr>
              <a:t>Per-client cost vs client population (from the paper).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47672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CB-SAFE masks only within clusters of c=3, so each client keeps c−1 partners: per-client cost is flat in N, unlike all-pairs secure aggregation [2] which grows O(N).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At N=1000, one-time setup is 15.2 KiB (HQC) vs 7.4 MiB for all-pairs — a 500× reduction; the privacy law (1−f)^c and the laundering bound are per-cluster, so guarantees are N-independent.</a:t>
            </a:r>
          </a:p>
        </p:txBody>
      </p:sp>
      <p:pic>
        <p:nvPicPr>
          <p:cNvPr id="5" name="Picture 4" descr="fig_scaling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474" y="3246120"/>
            <a:ext cx="7084745" cy="2514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887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[2] K. Bonawitz, V. Ivanov, B. Kreuter, A. Marcedone, H. B. McMahan, S. Patel, D. Ramage, A. Segal, and K. Seth, "Practical secure aggregation for privacy-preserving machine learning," in Proc. ACM CCS, 2017, pp. 1175–1191.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190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98781"/>
                </a:solidFill>
                <a:latin typeface="Calibri"/>
              </a:rPr>
              <a:t>23 /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0B0B0B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CB-SAFE unifies code-based PQ secure aggregation [2], [3] with temporal group-testing robustness [1] in one protocol.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It ties the state of the art (FedGT [1]) on robustness and detection, at lower cost, and adds crypto diversity plus a failure theory.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Limitations: update authentication is out of the code-based scope; EMNIST detection uses a single seed.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6251F"/>
                </a:solidFill>
                <a:latin typeface="Calibri"/>
              </a:rPr>
              <a:t>Future work: code-based signatures for authentication, larger client populations, and adaptive attackers.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8887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[1] M. Xhemrishi, J. Östman, A. Wachter-Zeh, and A. Graell i Amat, "FedGT: Identification of malicious clients in federated learning with secure aggregation," IEEE Trans. Inf. Forensics Security, vol. 20, pp. 2577–2592, 2025.</a:t>
            </a:r>
          </a:p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[2] K. Bonawitz, V. Ivanov, B. Kreuter, A. Marcedone, H. B. McMahan, S. Patel, D. Ramage, A. Segal, and K. Seth, "Practical secure aggregation for privacy-preserving machine learning," in Proc. ACM CCS, 2017, pp. 1175–1191.</a:t>
            </a:r>
          </a:p>
          <a:p>
            <a:pPr>
              <a:spcAft>
                <a:spcPts val="100"/>
              </a:spcAft>
            </a:pPr>
            <a:r>
              <a:rPr sz="900" b="0" i="1">
                <a:solidFill>
                  <a:srgbClr val="26251F"/>
                </a:solidFill>
                <a:latin typeface="Calibri"/>
              </a:rPr>
              <a:t>[3] National Institute of Standards and Technology, "Status report on the fourth round of the NIST post-quantum cryptography standardization process," NIST IR 8545, Mar. 2025.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190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98781"/>
                </a:solidFill>
                <a:latin typeface="Calibri"/>
              </a:rPr>
              <a:t>24 / 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0B0B0B"/>
                </a:solidFill>
                <a:latin typeface="Calibr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26251F"/>
                </a:solidFill>
                <a:latin typeface="Calibri"/>
              </a:rPr>
              <a:t>[1] M. Xhemrishi, J. Östman, A. Wachter-Zeh, and A. Graell i Amat, "FedGT: Identification of malicious clients in federated learning with secure aggregation," IEEE Trans. Inf. Forensics Security, vol. 20, pp. 2577–2592, 2025.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6251F"/>
                </a:solidFill>
                <a:latin typeface="Calibri"/>
              </a:rPr>
              <a:t>[2] K. Bonawitz, V. Ivanov, B. Kreuter, A. Marcedone, H. B. McMahan, S. Patel, D. Ramage, A. Segal, and K. Seth, "Practical secure aggregation for privacy-preserving machine learning," in Proc. ACM CCS, 2017, pp. 1175–1191.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6251F"/>
                </a:solidFill>
                <a:latin typeface="Calibri"/>
              </a:rPr>
              <a:t>[3] National Institute of Standards and Technology, "Status report on the fourth round of the NIST post-quantum cryptography standardization process," NIST IR 8545, Mar. 2025.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6251F"/>
                </a:solidFill>
                <a:latin typeface="Calibri"/>
              </a:rPr>
              <a:t>[4] P. W. Shor, "Polynomial-time algorithms for prime factorization and discrete logarithms on a quantum computer," SIAM J. Comput., vol. 26, no. 5, pp. 1484–1509, 1997.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6251F"/>
                </a:solidFill>
                <a:latin typeface="Calibri"/>
              </a:rPr>
              <a:t>[5] X. Cao, M. Fang, J. Liu, and N. Z. Gong, "FLTrust: Byzantine-robust federated learning via trust bootstrapping," in Proc. NDSS, 2021.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6251F"/>
                </a:solidFill>
                <a:latin typeface="Calibri"/>
              </a:rPr>
              <a:t>[6] D. Yin, Y. Chen, R. Kannan, and P. Bartlett, "Byzantine-robust distributed learning: Towards optimal statistical rates," in Proc. ICML, 2018, pp. 5650–5659.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6251F"/>
                </a:solidFill>
                <a:latin typeface="Calibri"/>
              </a:rPr>
              <a:t>[7] P. Blanchard, E. M. El Mhamdi, R. Guerraoui, and J. Stainer, "Machine learning with adversaries: Byzantine tolerant gradient descent," in Proc. NeurIPS, 2017, pp. 119–129.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6251F"/>
                </a:solidFill>
                <a:latin typeface="Calibri"/>
              </a:rPr>
              <a:t>[8] K. Pillutla, S. M. Kakade, and Z. Harchaoui, "Robust aggregation for federated learning," IEEE Trans. Signal Process., vol. 70, pp. 1142–1154, 2022.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6251F"/>
                </a:solidFill>
                <a:latin typeface="Calibri"/>
              </a:rPr>
              <a:t>[9] National Institute of Standards and Technology, "Module-lattice-based key-encapsulation mechanism standard," FIPS 203, Aug. 2024.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