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A78D6"/>
                </a:solidFill>
                <a:latin typeface="Segoe UI"/>
              </a:rPr>
              <a:t>POST-QUANTUM CRYPTOGRAPHY × FEDERATED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700" b="1" i="0">
                <a:solidFill>
                  <a:srgbClr val="0B0B0B"/>
                </a:solidFill>
                <a:latin typeface="Segoe UI"/>
              </a:rPr>
              <a:t>CB-SAFE: Code-Based Post-Quantum Secure Aggregation for Byzantine-Robust Federated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526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26251F"/>
                </a:solidFill>
                <a:latin typeface="Segoe UI"/>
              </a:rPr>
              <a:t>Md Wahiduzzaman Suva (26-94088-2)   ·   Esm-e Moula Chowdhury Abha (26-94089-2)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5604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898781"/>
                </a:solidFill>
                <a:latin typeface="Segoe UI"/>
              </a:rPr>
              <a:t>Department of Computer Science, American International University–Bangladesh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06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1">
                <a:solidFill>
                  <a:srgbClr val="898781"/>
                </a:solidFill>
                <a:latin typeface="Segoe UI"/>
              </a:rPr>
              <a:t>Slides 1–15: required method presentation.   Slides 16–22: full-paper research walkthrough.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Federated learning shares model updates, not raw data, yet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those updates still leak private training data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Secure aggregation hides updates behind masks, but its key exchange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breaks under a quantum computer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(harvest-now, decrypt-later).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Every post-quantum fix today is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lattice-only, a monoculture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; and hiding updates also blinds the server to poisoned ones.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Goal: one protocol that is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private, post-quantum with crypto diversity, and Byzantine-robust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Background and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Secure aggregation = pairwise masks that cancel in the sum; the server sees only the aggregate, never an individual.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Quantum threat: Shor's algorithm breaks classical key exchange, and traffic recorded today is decryptable later.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Crypto diversity: NIST selected the code-based KEM HQC in 2025 to hedge a lattice break; that diversity has not reached FL.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Robustness tension: privacy hides exactly the per-client signal that poisoning defenses need.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[4] P. W. Shor, "Polynomial-time algorithms for prime factorization and discrete logarithms on a quantum computer," SIAM J. Comput., vol. 26, no. 5, pp. 1484–1509, 1997.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2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FedGT (IEEE TIFS, 2025) is the closest peer to our robustness mechanism.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Idea: group clients into overlapping test groups; the server sees only group aggregates, so privacy is preserved.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 statistical test flags groups that contain malicious clients; a decoder then identifies and removes the culprits.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Borrowed from group testing: find a few defectives with far fewer pooled tests than testing everyone.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3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Methodology (Base Paper)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An assignment matrix groups n clients into m overlapping groups (the parity-check structure of a code).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Each group is securely aggregated; a test on the group aggregate is positive if any member is malicious.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 COMP / Neyman-Pearson decoder infers which clients are malicious from the group test results.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Flagged clients are excluded; the remaining clean clients are aggregated into the global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4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Crypto: it treats secure aggregation as a black box, with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no post-quantum layer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, in a lattice-only field.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Cost: it needs a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server validation set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and per-round group testing over fixed overlapping groups.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Single-round decode: it identifies attackers from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one round's tests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, using no information across rounds.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Unexplained failure: it does not characterize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why ordinary robust aggregation breaks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once updates are hidden.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5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Paper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Venue quality: IEEE TIFS, a Q1 security journal. Recency: published 2025.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Relevance: it solves our exact sub-problem, malicious-client identification under secure aggregation.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Method strength: its group testing outperforms the geometric median (RFA) and Multi-Krum in its own study.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Reproducible: public code and a clearly specified protocol, a solid foundation to build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[8] K. Pillutla, S. M. Kakade, and Z. Harchaoui, "Robust aggregation for federated learning," IEEE Trans. Signal Process., vol. 70, pp. 1142–1154, 2022.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6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Proposed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One framework that is private, post-quantum, and Byzantine-robust at the same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Hide updates within clusters using a code-based (HQC) masking protocol: the server sees only cluster sums.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Run group testing across re-randomized clusters over rounds to identify attackers (CB-SAFE+).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Confidentiality lives below the cluster boundary; robustness operates above it; post-quantum by construction.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7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Methodology (Ours): Masking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We adopt Bonawitz-style double masking: pairwise masks cancel in the cluster sum, so individuals stay hidden.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Dropout resilience via Shamir secret sharing of the self-masks.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Our change: masks are seeded from a KEM, so per-round traffic carries no cryptographic bytes at all.</a:t>
            </a:r>
          </a:p>
        </p:txBody>
      </p:sp>
      <p:pic>
        <p:nvPicPr>
          <p:cNvPr id="4" name="Picture 3" descr="fig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3274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8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Methodology (Ours):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We adopt the core idea: identify malicious clients from group-level observations, never from individual updates.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The groups are the privacy-preserving cluster sums (the pools); a probe flags contaminated pools.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Our change: tests repeat over re-randomized clusters and accumulate across rounds (temporal group testing).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9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Methodology (Ours): Cryptography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We adopt HQC, the code-based KEM NIST selected in 2025, for post-quantum confidentiality.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Its security rests on syndrome decoding of quasi-cyclic codes, not lattices: genuine cryptographic diversity.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Our change: HQC sits behind a KEM-agnostic interface, so ML-KEM swaps in with one configuration 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10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Methodology (Ours):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Masking + group testing + a code-based KEM become one coherent framework.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HQC-seeded masking [2], [3] hides updates inside clusters, so the server sees only cluster sums.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Group testing [1] then runs across those cluster sums, over re-randomized rounds, to name the attackers.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Net design: privacy below the cluster boundary, robustness above it, code-based crypto throughout.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On top we add our own pieces: the laundering theorem and a server root-loss probe.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11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Crypto: FedGT is crypto-agnostic →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CB-SAFE is code-based post-quantum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Detection: FedGT uses single-round COMP + a validation set →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CB-SAFE uses temporal accumulation + a root-loss probe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Theory: FedGT gives no failure model →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CB-SAFE proves the laundering boundary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Results: accuracy ties FedGT with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fewer false exclusions and ~4× lower cost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</p:txBody>
      </p:sp>
      <p:pic>
        <p:nvPicPr>
          <p:cNvPr id="4" name="Picture 3" descr="fig_signflip_acc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36690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12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First code-based post-quantum secure aggregation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for FL: cryptographic diversity beyond lattices.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The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laundering theorem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: at γ*=2c/m−1 a poisoned cluster mean is magnitude-invisible, explaining why robust rules fail.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Temporal group testing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over re-randomized clusters with a root-loss probe: identifies attackers the server never sees.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trust-free variant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that needs no root dataset, a capability FedGT does not offer.</a:t>
            </a:r>
          </a:p>
        </p:txBody>
      </p:sp>
      <p:pic>
        <p:nvPicPr>
          <p:cNvPr id="4" name="Picture 3" descr="fig_launder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33124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[5] X. Cao, M. Fang, J. Liu, and N. Z. Gong, "FLTrust: Byzantine-robust federated learning via trust bootstrapping," in Proc. NDSS, 2021.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13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Selection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Venue and recency: the basis paper is Q1 (IEEE TIFS), 2025; supporting sources are top-tier (ACM CCS, NIST).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Relevance: every borrowed idea maps directly onto a component of our exact problem.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Method strength: we match SOTA (FedGT) on robustness at ~4× lower cost, add PQC, and prove the failure mechanism.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Breadth and rigor: validated on four datasets and two modalities, multiple seeds, with significance testing.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14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End of the required method presentation. Slides 16–22 present the full paper and results.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Took: masking [2], group testing [1], and a code-based KEM [3].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Changed: temporal group testing over re-randomized clusters; HQC-seeded, KEM-agnostic masking.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New: the laundering theorem, the first code-based PQ secure aggregation, and trust-free detection.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Payoff: private, post-quantum, and Byzantine-robust FL that ties the state of the art at lower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15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One training round: confidentiality within clusters, temporal group testing over re-randomized clusters, robust aggregation.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14" y="2240280"/>
            <a:ext cx="7832267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16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949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Images: CIFAR-10, FashionMNIST, EMNIST-balanced (47 classes). Tabular: Edge-IIoTset (IoT intrusion).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Non-IID split via a Dirichlet(0.5) partition; 30 communication rounds; clusters of size c = 3.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Attacks: sign-flip (laundering), label-flip, backdoor. Baselines: mean, trimmed, median, Krum, Bulyan, RFA, FLTrust, FedGT.</a:t>
            </a:r>
          </a:p>
        </p:txBody>
      </p:sp>
      <p:pic>
        <p:nvPicPr>
          <p:cNvPr id="4" name="Picture 3" descr="shot_dirichlet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47856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[6] D. Yin, Y. Chen, R. Kannan, and P. Bartlett, "Byzantine-robust distributed learning: Towards optimal statistical rates," in Proc. ICML, 2018, pp. 5650–5659.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17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Results: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Sign-flip test accuracy across four datasets (from the paper, Table V).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Under sign-flip at f ≥ 0.2 every coordinate-wise rule collapses to chance; CB-SAFE+ holds and ties FedGT.</a:t>
            </a:r>
          </a:p>
        </p:txBody>
      </p:sp>
      <p:pic>
        <p:nvPicPr>
          <p:cNvPr id="5" name="Picture 4" descr="shot_signfli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2" y="2331720"/>
            <a:ext cx="10528491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18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Results: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Temporal suspicion separation (from the paper, Fig. 8).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Malicious and honest suspicion separate within a few rounds; attackers are named from group-level observations alone.</a:t>
            </a:r>
          </a:p>
        </p:txBody>
      </p:sp>
      <p:pic>
        <p:nvPicPr>
          <p:cNvPr id="5" name="Picture 4" descr="shot_suspicion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507" y="2514600"/>
            <a:ext cx="757868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19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Results: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Label-flip test accuracy (from the paper, Table VI); CB-SAFE+ matches FedGT and leads at the hardest setting (f=0.3).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Label-flip is milder: no coordinate-wise rule collapses, which isolates laundering as the cause of the sign-flip failures.</a:t>
            </a:r>
          </a:p>
        </p:txBody>
      </p:sp>
      <p:pic>
        <p:nvPicPr>
          <p:cNvPr id="5" name="Picture 4" descr="shot_labelfli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746" y="2331720"/>
            <a:ext cx="10026203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20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Results: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Measured per-client overhead (from the paper, Table II).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Code-based (HQC) confidentiality gives crypto diversity beyond lattices; ML-KEM swaps in unchanged.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One-time setup is paid once and stays under 0.03% of total traffic; per-round bytes are KEM-independent.</a:t>
            </a:r>
          </a:p>
        </p:txBody>
      </p:sp>
      <p:pic>
        <p:nvPicPr>
          <p:cNvPr id="5" name="Picture 4" descr="shot_overhead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9" y="3063240"/>
            <a:ext cx="6479177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21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CB-SAFE unifies code-based PQ secure aggregation with temporal group-testing robustness in one protocol.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It ties the state of the art (FedGT) on robustness and detection, at lower cost, and adds crypto diversity plus a failure theory.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Limitations: update authentication is out of the code-based scope; EMNIST detection uses a single seed.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Future work: code-based signatures for authentication, larger client populations, and adaptive attackers.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22 / 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[4] P. W. Shor, "Polynomial-time algorithms for prime factorization and discrete logarithms on a quantum computer," SIAM J. Comput., vol. 26, no. 5, pp. 1484–1509, 1997.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[5] X. Cao, M. Fang, J. Liu, and N. Z. Gong, "FLTrust: Byzantine-robust federated learning via trust bootstrapping," in Proc. NDSS, 2021.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[6] D. Yin, Y. Chen, R. Kannan, and P. Bartlett, "Byzantine-robust distributed learning: Towards optimal statistical rates," in Proc. ICML, 2018, pp. 5650–5659.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[7] P. Blanchard, E. M. El Mhamdi, R. Guerraoui, and J. Stainer, "Machine learning with adversaries: Byzantine tolerant gradient descent," in Proc. NeurIPS, 2017, pp. 119–129.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[8] K. Pillutla, S. M. Kakade, and Z. Harchaoui, "Robust aggregation for federated learning," IEEE Trans. Signal Process., vol. 70, pp. 1142–1154, 2022.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[9] National Institute of Standards and Technology, "Module-lattice-based key-encapsulation mechanism standard," FIPS 203, Aug. 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