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874519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A78D6"/>
                </a:solidFill>
                <a:latin typeface="Segoe UI"/>
              </a:rPr>
              <a:t>METHOD PRESENTATION · POST-QUANTUM CRYPTOGRAPHY × FEDERATED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33172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 i="0">
                <a:solidFill>
                  <a:srgbClr val="0B0B0B"/>
                </a:solidFill>
                <a:latin typeface="Segoe UI"/>
              </a:rPr>
              <a:t>CB-SAFE: Code-Based Post-Quantum Secure Aggregation for Byzantine-Robust Federated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262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26251F"/>
                </a:solidFill>
                <a:latin typeface="Segoe UI"/>
              </a:rPr>
              <a:t>Md Wahiduzzaman Suva (26-94088-2)   ·   Esm-e Moula Chowdhury Abha (26-94089-2)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98348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898781"/>
                </a:solidFill>
                <a:latin typeface="Segoe UI"/>
              </a:rPr>
              <a:t>Department of Computer Science, American International University–Bangladesh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A78D6"/>
                </a:solidFill>
                <a:latin typeface="Segoe UI"/>
              </a:rPr>
              <a:t>OUTLINE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0B0B0B"/>
                </a:solidFill>
                <a:latin typeface="Segoe UI"/>
              </a:rPr>
              <a:t>What this talk covers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 i="0">
                <a:solidFill>
                  <a:srgbClr val="26251F"/>
                </a:solidFill>
                <a:latin typeface="Segoe UI"/>
              </a:rPr>
              <a:t>▪  Problem statement, background and motivation (1–2).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6251F"/>
                </a:solidFill>
                <a:latin typeface="Segoe UI"/>
              </a:rPr>
              <a:t>▪  Closest related work (FedGT), its method, limitations, and why we selected it (3–6).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6251F"/>
                </a:solidFill>
                <a:latin typeface="Segoe UI"/>
              </a:rPr>
              <a:t>▪  Our proposed idea, and the component we take from each source paper (7–10).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6251F"/>
                </a:solidFill>
                <a:latin typeface="Segoe UI"/>
              </a:rPr>
              <a:t>▪  How we combine them, previous-vs-proposed, what is genuinely new (11–13).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6251F"/>
                </a:solidFill>
                <a:latin typeface="Segoe UI"/>
              </a:rPr>
              <a:t>▪  How the selection meets the required parameters, and the key contribution (14–15).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898781"/>
                </a:solidFill>
                <a:latin typeface="Segoe UI"/>
              </a:rPr>
              <a:t>CB-SAFE · Suva &amp; Chowdhury · AIUB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A78D6"/>
                </a:solidFill>
                <a:latin typeface="Segoe UI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0B0B0B"/>
                </a:solidFill>
                <a:latin typeface="Segoe UI"/>
              </a:rPr>
              <a:t>Three threats collide in one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 i="0">
                <a:solidFill>
                  <a:srgbClr val="26251F"/>
                </a:solidFill>
                <a:latin typeface="Segoe UI"/>
              </a:rPr>
              <a:t>▪  Federated learning shares model updates, not raw data; but those updates leak private training data.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6251F"/>
                </a:solidFill>
                <a:latin typeface="Segoe UI"/>
              </a:rPr>
              <a:t>▪  Secure aggregation hides updates behind masks, yet its key exchange breaks under a quantum computer (harvest-now, decrypt-later).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6251F"/>
                </a:solidFill>
                <a:latin typeface="Segoe UI"/>
              </a:rPr>
              <a:t>▪  Every post-quantum fix today is lattice-only (a monoculture); and hiding updates also blinds the server to poisoned ones.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6251F"/>
                </a:solidFill>
                <a:latin typeface="Segoe UI"/>
              </a:rPr>
              <a:t>▪  Goal: one protocol that is private, post-quantum with crypto diversity, AND Byzantine-robust.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5332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2A78D6"/>
                </a:solidFill>
                <a:latin typeface="Segoe UI"/>
              </a:rPr>
              <a:t>[2] Bonawitz et al., Practical Secure Aggregation, ACM CCS 2017.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898781"/>
                </a:solidFill>
                <a:latin typeface="Segoe UI"/>
              </a:rPr>
              <a:t>CB-SAFE · Suva &amp; Chowdhury · AIUB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898781"/>
                </a:solidFill>
                <a:latin typeface="Segoe UI"/>
              </a:rPr>
              <a:t>1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A78D6"/>
                </a:solidFill>
                <a:latin typeface="Segoe UI"/>
              </a:rPr>
              <a:t>BACKGROUND /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0B0B0B"/>
                </a:solidFill>
                <a:latin typeface="Segoe UI"/>
              </a:rPr>
              <a:t>Why the problem is hard and timely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 i="0">
                <a:solidFill>
                  <a:srgbClr val="26251F"/>
                </a:solidFill>
                <a:latin typeface="Segoe UI"/>
              </a:rPr>
              <a:t>▪  Secure aggregation = pairwise masks that cancel in the sum; the server sees only the aggregate, never an individual.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6251F"/>
                </a:solidFill>
                <a:latin typeface="Segoe UI"/>
              </a:rPr>
              <a:t>▪  Quantum threat: Shor's algorithm breaks classical key exchange, and traffic recorded today is decryptable later.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6251F"/>
                </a:solidFill>
                <a:latin typeface="Segoe UI"/>
              </a:rPr>
              <a:t>▪  Crypto diversity: NIST selected the code-based KEM HQC in 2025 to hedge a lattice break; that diversity has not reached FL.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6251F"/>
                </a:solidFill>
                <a:latin typeface="Segoe UI"/>
              </a:rPr>
              <a:t>▪  Robustness tension: privacy hides exactly the per-client signal that poisoning defenses need.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5332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2A78D6"/>
                </a:solidFill>
                <a:latin typeface="Segoe UI"/>
              </a:rPr>
              <a:t>[3] NIST IR 8545, 2025 (HQC);  [4] Shor, SIAM J. Comput., 1997.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898781"/>
                </a:solidFill>
                <a:latin typeface="Segoe UI"/>
              </a:rPr>
              <a:t>CB-SAFE · Suva &amp; Chowdhury · AIUB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898781"/>
                </a:solidFill>
                <a:latin typeface="Segoe UI"/>
              </a:rPr>
              <a:t>2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A78D6"/>
                </a:solidFill>
                <a:latin typeface="Segoe UI"/>
              </a:rPr>
              <a:t>CLOSEST RELATED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0B0B0B"/>
                </a:solidFill>
                <a:latin typeface="Segoe UI"/>
              </a:rPr>
              <a:t>FedGT: malicious-client ID under secure aggregation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 i="0">
                <a:solidFill>
                  <a:srgbClr val="26251F"/>
                </a:solidFill>
                <a:latin typeface="Segoe UI"/>
              </a:rPr>
              <a:t>▪  FedGT (IEEE TIFS 2025) is the closest peer to our robustness mechanism.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6251F"/>
                </a:solidFill>
                <a:latin typeface="Segoe UI"/>
              </a:rPr>
              <a:t>▪  Idea: group clients into overlapping test groups; the server sees only group aggregates, so privacy is preserved.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6251F"/>
                </a:solidFill>
                <a:latin typeface="Segoe UI"/>
              </a:rPr>
              <a:t>▪  A statistical test flags groups that contain malicious clients; a decoder then identifies and removes the culprits.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6251F"/>
                </a:solidFill>
                <a:latin typeface="Segoe UI"/>
              </a:rPr>
              <a:t>▪  It borrows from group testing: find a few defectives with far fewer pooled tests than testing everyone.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5332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2A78D6"/>
                </a:solidFill>
                <a:latin typeface="Segoe UI"/>
              </a:rPr>
              <a:t>[1] Xhemrishi, Östman, Wachter-Zeh, Graell i Amat, FedGT, IEEE TIFS, vol. 20, 2025.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898781"/>
                </a:solidFill>
                <a:latin typeface="Segoe UI"/>
              </a:rPr>
              <a:t>CB-SAFE · Suva &amp; Chowdhury · AIUB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898781"/>
                </a:solidFill>
                <a:latin typeface="Segoe UI"/>
              </a:rPr>
              <a:t>3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A78D6"/>
                </a:solidFill>
                <a:latin typeface="Segoe UI"/>
              </a:rPr>
              <a:t>EXISTING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0B0B0B"/>
                </a:solidFill>
                <a:latin typeface="Segoe UI"/>
              </a:rPr>
              <a:t>How FedGT identifies attackers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 i="0">
                <a:solidFill>
                  <a:srgbClr val="26251F"/>
                </a:solidFill>
                <a:latin typeface="Segoe UI"/>
              </a:rPr>
              <a:t>▪  An assignment matrix A groups n clients into m overlapping groups (the parity-check structure of a code).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6251F"/>
                </a:solidFill>
                <a:latin typeface="Segoe UI"/>
              </a:rPr>
              <a:t>▪  Each group is securely aggregated; a test on the group aggregate is positive if any member is malicious (a syndrome bit).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6251F"/>
                </a:solidFill>
                <a:latin typeface="Segoe UI"/>
              </a:rPr>
              <a:t>▪  A COMP / Neyman-Pearson decoder infers the defective vector (which clients are malicious) from the group test results.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6251F"/>
                </a:solidFill>
                <a:latin typeface="Segoe UI"/>
              </a:rPr>
              <a:t>▪  Flagged clients are excluded; the remaining clean clients are aggregated into the global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5332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2A78D6"/>
                </a:solidFill>
                <a:latin typeface="Segoe UI"/>
              </a:rPr>
              <a:t>[1] Xhemrishi et al., FedGT, IEEE TIFS 2025.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898781"/>
                </a:solidFill>
                <a:latin typeface="Segoe UI"/>
              </a:rPr>
              <a:t>CB-SAFE · Suva &amp; Chowdhury · AIUB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898781"/>
                </a:solidFill>
                <a:latin typeface="Segoe UI"/>
              </a:rPr>
              <a:t>4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A78D6"/>
                </a:solidFill>
                <a:latin typeface="Segoe UI"/>
              </a:rP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0B0B0B"/>
                </a:solidFill>
                <a:latin typeface="Segoe UI"/>
              </a:rPr>
              <a:t>Where FedGT leaves gaps (our angle)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 i="0">
                <a:solidFill>
                  <a:srgbClr val="26251F"/>
                </a:solidFill>
                <a:latin typeface="Segoe UI"/>
              </a:rPr>
              <a:t>▪  Crypto: it treats secure aggregation as a black box, with no post-quantum layer, in a lattice-only field.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6251F"/>
                </a:solidFill>
                <a:latin typeface="Segoe UI"/>
              </a:rPr>
              <a:t>▪  Cost: it needs a server validation set and per-round group testing over fixed overlapping groups.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6251F"/>
                </a:solidFill>
                <a:latin typeface="Segoe UI"/>
              </a:rPr>
              <a:t>▪  Single-round decode: it identifies attackers from one round's tests, using no information across rounds.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6251F"/>
                </a:solidFill>
                <a:latin typeface="Segoe UI"/>
              </a:rPr>
              <a:t>▪  Unexplained failure: it does not characterize WHY ordinary robust aggregation breaks once updates are hidden.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5332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2A78D6"/>
                </a:solidFill>
                <a:latin typeface="Segoe UI"/>
              </a:rPr>
              <a:t>[1] Xhemrishi et al., FedGT, IEEE TIFS 2025.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898781"/>
                </a:solidFill>
                <a:latin typeface="Segoe UI"/>
              </a:rPr>
              <a:t>CB-SAFE · Suva &amp; Chowdhury · AIUB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898781"/>
                </a:solidFill>
                <a:latin typeface="Segoe UI"/>
              </a:rPr>
              <a:t>5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A78D6"/>
                </a:solidFill>
                <a:latin typeface="Segoe UI"/>
              </a:rPr>
              <a:t>WHY THIS 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0B0B0B"/>
                </a:solidFill>
                <a:latin typeface="Segoe UI"/>
              </a:rPr>
              <a:t>Why FedGT is our basis (selection parameters)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 i="0">
                <a:solidFill>
                  <a:srgbClr val="26251F"/>
                </a:solidFill>
                <a:latin typeface="Segoe UI"/>
              </a:rPr>
              <a:t>▪  Venue quality: IEEE TIFS, a Q1 security journal.  Recency: published 2025.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6251F"/>
                </a:solidFill>
                <a:latin typeface="Segoe UI"/>
              </a:rPr>
              <a:t>▪  Relevance: it solves our exact sub-problem, malicious-client identification under secure aggregation.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6251F"/>
                </a:solidFill>
                <a:latin typeface="Segoe UI"/>
              </a:rPr>
              <a:t>▪  Method strength: its group testing outperforms the geometric median (RFA) and Multi-Krum in its own study.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6251F"/>
                </a:solidFill>
                <a:latin typeface="Segoe UI"/>
              </a:rPr>
              <a:t>▪  Reproducible: public code and a clearly specified protocol, giving a solid, buildable foundation.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5332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2A78D6"/>
                </a:solidFill>
                <a:latin typeface="Segoe UI"/>
              </a:rPr>
              <a:t>[1] Xhemrishi et al., FedGT, IEEE TIFS 2025.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898781"/>
                </a:solidFill>
                <a:latin typeface="Segoe UI"/>
              </a:rPr>
              <a:t>CB-SAFE · Suva &amp; Chowdhury · AIUB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898781"/>
                </a:solidFill>
                <a:latin typeface="Segoe UI"/>
              </a:rPr>
              <a:t>6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A78D6"/>
                </a:solidFill>
                <a:latin typeface="Segoe UI"/>
              </a:rPr>
              <a:t>OUR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0B0B0B"/>
                </a:solidFill>
                <a:latin typeface="Segoe UI"/>
              </a:rPr>
              <a:t>CB-SAFE: code-based, private, and robust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 i="0">
                <a:solidFill>
                  <a:srgbClr val="26251F"/>
                </a:solidFill>
                <a:latin typeface="Segoe UI"/>
              </a:rPr>
              <a:t>▪  Hide updates within clusters using a code-based (HQC) masking protocol: the server sees only cluster sums.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6251F"/>
                </a:solidFill>
                <a:latin typeface="Segoe UI"/>
              </a:rPr>
              <a:t>▪  Run group testing ACROSS re-randomized clusters over rounds to identify attackers (CB-SAFE+).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6251F"/>
                </a:solidFill>
                <a:latin typeface="Segoe UI"/>
              </a:rPr>
              <a:t>▪  Confidentiality lives below the cluster boundary; robustness operates above it; post-quantum by construction.</a:t>
            </a:r>
          </a:p>
        </p:txBody>
      </p:sp>
      <p:pic>
        <p:nvPicPr>
          <p:cNvPr id="5" name="Picture 4" descr="fig_arch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2766" y="3154680"/>
            <a:ext cx="5386161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05332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2A78D6"/>
                </a:solidFill>
                <a:latin typeface="Segoe UI"/>
              </a:rPr>
              <a:t>This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898781"/>
                </a:solidFill>
                <a:latin typeface="Segoe UI"/>
              </a:rPr>
              <a:t>CB-SAFE · Suva &amp; Chowdhury · AIUB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898781"/>
                </a:solidFill>
                <a:latin typeface="Segoe UI"/>
              </a:rPr>
              <a:t>7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A78D6"/>
                </a:solidFill>
                <a:latin typeface="Segoe UI"/>
              </a:rPr>
              <a:t>COMPONENT 1 /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0B0B0B"/>
                </a:solidFill>
                <a:latin typeface="Segoe UI"/>
              </a:rPr>
              <a:t>Taken from secure aggregation: masking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 i="0">
                <a:solidFill>
                  <a:srgbClr val="26251F"/>
                </a:solidFill>
                <a:latin typeface="Segoe UI"/>
              </a:rPr>
              <a:t>▪  We adopt Bonawitz-style double masking: pairwise masks cancel in the cluster sum, so individuals stay hidden.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6251F"/>
                </a:solidFill>
                <a:latin typeface="Segoe UI"/>
              </a:rPr>
              <a:t>▪  Dropout resilience via Shamir secret sharing of the self-masks.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6251F"/>
                </a:solidFill>
                <a:latin typeface="Segoe UI"/>
              </a:rPr>
              <a:t>▪  Our change: masks are seeded from a KEM, so per-round traffic carries no cryptographic bytes at all.</a:t>
            </a:r>
          </a:p>
        </p:txBody>
      </p:sp>
      <p:pic>
        <p:nvPicPr>
          <p:cNvPr id="5" name="Picture 4" descr="fig_mas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645920"/>
            <a:ext cx="4206240" cy="30736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05332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2A78D6"/>
                </a:solidFill>
                <a:latin typeface="Segoe UI"/>
              </a:rPr>
              <a:t>[2] Bonawitz et al., Practical Secure Aggregation, ACM CCS 2017.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898781"/>
                </a:solidFill>
                <a:latin typeface="Segoe UI"/>
              </a:rPr>
              <a:t>CB-SAFE · Suva &amp; Chowdhury · AIUB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898781"/>
                </a:solidFill>
                <a:latin typeface="Segoe UI"/>
              </a:rPr>
              <a:t>8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A78D6"/>
                </a:solidFill>
                <a:latin typeface="Segoe UI"/>
              </a:rPr>
              <a:t>COMPONENT 2 /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0B0B0B"/>
                </a:solidFill>
                <a:latin typeface="Segoe UI"/>
              </a:rPr>
              <a:t>Taken from FedGT: group testing for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 i="0">
                <a:solidFill>
                  <a:srgbClr val="26251F"/>
                </a:solidFill>
                <a:latin typeface="Segoe UI"/>
              </a:rPr>
              <a:t>▪  We adopt the core idea: identify malicious clients from GROUP-level observations, never from individual updates.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6251F"/>
                </a:solidFill>
                <a:latin typeface="Segoe UI"/>
              </a:rPr>
              <a:t>▪  The groups are the privacy-preserving cluster sums (the pools); a probe flags contaminated pools.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6251F"/>
                </a:solidFill>
                <a:latin typeface="Segoe UI"/>
              </a:rPr>
              <a:t>▪  Our change: tests repeat over re-randomized clusters and accumulate across rounds (temporal group testing), instead of a single-round decode.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5332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2A78D6"/>
                </a:solidFill>
                <a:latin typeface="Segoe UI"/>
              </a:rPr>
              <a:t>[1] Xhemrishi et al., FedGT, IEEE TIFS 2025.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898781"/>
                </a:solidFill>
                <a:latin typeface="Segoe UI"/>
              </a:rPr>
              <a:t>CB-SAFE · Suva &amp; Chowdhury · AIUB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898781"/>
                </a:solidFill>
                <a:latin typeface="Segoe UI"/>
              </a:rPr>
              <a:t>9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A78D6"/>
                </a:solidFill>
                <a:latin typeface="Segoe UI"/>
              </a:rPr>
              <a:t>COMPONENT 3 /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0B0B0B"/>
                </a:solidFill>
                <a:latin typeface="Segoe UI"/>
              </a:rPr>
              <a:t>Taken from NIST PQC: a code-based KEM (HQC)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 i="0">
                <a:solidFill>
                  <a:srgbClr val="26251F"/>
                </a:solidFill>
                <a:latin typeface="Segoe UI"/>
              </a:rPr>
              <a:t>▪  We adopt HQC, the code-based KEM NIST selected in 2025, for post-quantum confidentiality.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6251F"/>
                </a:solidFill>
                <a:latin typeface="Segoe UI"/>
              </a:rPr>
              <a:t>▪  Its security rests on syndrome decoding of quasi-cyclic codes, not on lattices: genuine cryptographic diversity.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6251F"/>
                </a:solidFill>
                <a:latin typeface="Segoe UI"/>
              </a:rPr>
              <a:t>▪  Our change: HQC sits behind a KEM-agnostic interface, so one can swap in ML-KEM with a single configuration 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5332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2A78D6"/>
                </a:solidFill>
                <a:latin typeface="Segoe UI"/>
              </a:rPr>
              <a:t>[3] NIST IR 8545, 2025 (HQC selection).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898781"/>
                </a:solidFill>
                <a:latin typeface="Segoe UI"/>
              </a:rPr>
              <a:t>CB-SAFE · Suva &amp; Chowdhury · AIUB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898781"/>
                </a:solidFill>
                <a:latin typeface="Segoe UI"/>
              </a:rPr>
              <a:t>10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A78D6"/>
                </a:solidFill>
                <a:latin typeface="Segoe UI"/>
              </a:rPr>
              <a:t>COMBINATION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0B0B0B"/>
                </a:solidFill>
                <a:latin typeface="Segoe UI"/>
              </a:rPr>
              <a:t>How the three ideas fit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26251F"/>
                </a:solidFill>
                <a:latin typeface="Segoe UI"/>
              </a:rPr>
              <a:t>Like combining a blue shirt and mustard pants: masking + group testing + code-based crypto become one framework.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 i="0">
                <a:solidFill>
                  <a:srgbClr val="26251F"/>
                </a:solidFill>
                <a:latin typeface="Segoe UI"/>
              </a:rPr>
              <a:t>▪  HQC-seeded masking (from [2], [3]) hides updates inside clusters, so the server sees only cluster sums.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6251F"/>
                </a:solidFill>
                <a:latin typeface="Segoe UI"/>
              </a:rPr>
              <a:t>▪  Group testing (from [1]) then runs ACROSS those cluster sums, over re-randomized rounds, to name the attackers.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6251F"/>
                </a:solidFill>
                <a:latin typeface="Segoe UI"/>
              </a:rPr>
              <a:t>▪  Net design: privacy below the cluster boundary, robustness above it, code-based post-quantum crypto throughout.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6251F"/>
                </a:solidFill>
                <a:latin typeface="Segoe UI"/>
              </a:rPr>
              <a:t>▪  On top we add our own pieces (next slides): the laundering theorem and a server root-loss probe.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05332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2A78D6"/>
                </a:solidFill>
                <a:latin typeface="Segoe UI"/>
              </a:rPr>
              <a:t>[1] FedGT 2025;  [2] Bonawitz 2017;  [3] NIST IR 8545 2025.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898781"/>
                </a:solidFill>
                <a:latin typeface="Segoe UI"/>
              </a:rPr>
              <a:t>CB-SAFE · Suva &amp; Chowdhury · AIUB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898781"/>
                </a:solidFill>
                <a:latin typeface="Segoe UI"/>
              </a:rPr>
              <a:t>11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A78D6"/>
                </a:solidFill>
                <a:latin typeface="Segoe UI"/>
              </a:rPr>
              <a:t>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0B0B0B"/>
                </a:solidFill>
                <a:latin typeface="Segoe UI"/>
              </a:rPr>
              <a:t>Previous (FedGT) vs proposed (CB-SAFE)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 i="0">
                <a:solidFill>
                  <a:srgbClr val="26251F"/>
                </a:solidFill>
                <a:latin typeface="Segoe UI"/>
              </a:rPr>
              <a:t>▪  Crypto: FedGT is crypto-agnostic (no PQC)  →  CB-SAFE is code-based post-quantum.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6251F"/>
                </a:solidFill>
                <a:latin typeface="Segoe UI"/>
              </a:rPr>
              <a:t>▪  Detection: FedGT uses single-round COMP + a validation set  →  CB-SAFE uses temporal accumulation + a root-loss probe (plus a trust-free variant with no root data).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6251F"/>
                </a:solidFill>
                <a:latin typeface="Segoe UI"/>
              </a:rPr>
              <a:t>▪  Theory: FedGT gives no failure model  →  CB-SAFE proves the laundering boundary.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6251F"/>
                </a:solidFill>
                <a:latin typeface="Segoe UI"/>
              </a:rPr>
              <a:t>▪  Results: accuracy ties FedGT, with fewer false exclusions (0.0/0.7/0.3 vs 1.3/3.3/1.3) and ~4× lower cost.</a:t>
            </a:r>
          </a:p>
        </p:txBody>
      </p:sp>
      <p:pic>
        <p:nvPicPr>
          <p:cNvPr id="5" name="Picture 4" descr="fig_signflip_acc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645920"/>
            <a:ext cx="4206240" cy="24920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05332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2A78D6"/>
                </a:solidFill>
                <a:latin typeface="Segoe UI"/>
              </a:rPr>
              <a:t>[1] Xhemrishi et al., FedGT, IEEE TIFS 2025.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898781"/>
                </a:solidFill>
                <a:latin typeface="Segoe UI"/>
              </a:rPr>
              <a:t>CB-SAFE · Suva &amp; Chowdhury · AIUB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898781"/>
                </a:solidFill>
                <a:latin typeface="Segoe UI"/>
              </a:rPr>
              <a:t>12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A78D6"/>
                </a:solidFill>
                <a:latin typeface="Segoe UI"/>
              </a:rPr>
              <a:t>WHAT IS NEW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0B0B0B"/>
                </a:solidFill>
                <a:latin typeface="Segoe UI"/>
              </a:rPr>
              <a:t>Our genuinely new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 i="0">
                <a:solidFill>
                  <a:srgbClr val="26251F"/>
                </a:solidFill>
                <a:latin typeface="Segoe UI"/>
              </a:rPr>
              <a:t>▪  First code-based post-quantum secure aggregation for FL: cryptographic diversity beyond lattices.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6251F"/>
                </a:solidFill>
                <a:latin typeface="Segoe UI"/>
              </a:rPr>
              <a:t>▪  The laundering theorem: at γ*=2c/m−1 a poisoned cluster mean is magnitude-invisible, which explains why robust rules fail.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6251F"/>
                </a:solidFill>
                <a:latin typeface="Segoe UI"/>
              </a:rPr>
              <a:t>▪  Temporal group testing over re-randomized clusters with a root-loss probe: identifies attackers the server never sees individually.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6251F"/>
                </a:solidFill>
                <a:latin typeface="Segoe UI"/>
              </a:rPr>
              <a:t>▪  A trust-free variant that needs no root dataset, a capability FedGT does not offer.</a:t>
            </a:r>
          </a:p>
        </p:txBody>
      </p:sp>
      <p:pic>
        <p:nvPicPr>
          <p:cNvPr id="5" name="Picture 4" descr="fig_launder_g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645920"/>
            <a:ext cx="4206240" cy="31096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05332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2A78D6"/>
                </a:solidFill>
                <a:latin typeface="Segoe UI"/>
              </a:rPr>
              <a:t>This work;  root-loss probe inspired by [5] Cao et al., FLTrust, NDSS 2021.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898781"/>
                </a:solidFill>
                <a:latin typeface="Segoe UI"/>
              </a:rPr>
              <a:t>CB-SAFE · Suva &amp; Chowdhury · AIUB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898781"/>
                </a:solidFill>
                <a:latin typeface="Segoe UI"/>
              </a:rPr>
              <a:t>13 /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A78D6"/>
                </a:solidFill>
                <a:latin typeface="Segoe UI"/>
              </a:rPr>
              <a:t>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0B0B0B"/>
                </a:solidFill>
                <a:latin typeface="Segoe UI"/>
              </a:rPr>
              <a:t>How the selection meets the required criteria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 i="0">
                <a:solidFill>
                  <a:srgbClr val="26251F"/>
                </a:solidFill>
                <a:latin typeface="Segoe UI"/>
              </a:rPr>
              <a:t>▪  Venue and recency: the basis paper FedGT is Q1 (IEEE TIFS), 2025; supporting sources are top-tier (ACM CCS, NIST).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6251F"/>
                </a:solidFill>
                <a:latin typeface="Segoe UI"/>
              </a:rPr>
              <a:t>▪  Relevance: every borrowed idea maps directly onto a component of our exact problem.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6251F"/>
                </a:solidFill>
                <a:latin typeface="Segoe UI"/>
              </a:rPr>
              <a:t>▪  Method strength: we match the SOTA (FedGT) on robustness at ~4× lower cost, add PQC, and prove the failure mechanism.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6251F"/>
                </a:solidFill>
                <a:latin typeface="Segoe UI"/>
              </a:rPr>
              <a:t>▪  Breadth and rigor: validated on four datasets and two modalities, three seeds, with significance testing.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5332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2A78D6"/>
                </a:solidFill>
                <a:latin typeface="Segoe UI"/>
              </a:rPr>
              <a:t>[1] FedGT 2025;  [2] Bonawitz 2017;  [3] NIST IR 8545 2025.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898781"/>
                </a:solidFill>
                <a:latin typeface="Segoe UI"/>
              </a:rPr>
              <a:t>CB-SAFE · Suva &amp; Chowdhury · AIUB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898781"/>
                </a:solidFill>
                <a:latin typeface="Segoe UI"/>
              </a:rPr>
              <a:t>14 / 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A78D6"/>
                </a:solidFill>
                <a:latin typeface="Segoe U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0B0B0B"/>
                </a:solidFill>
                <a:latin typeface="Segoe UI"/>
              </a:rPr>
              <a:t>What we took, changed, and made new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 i="0">
                <a:solidFill>
                  <a:srgbClr val="26251F"/>
                </a:solidFill>
                <a:latin typeface="Segoe UI"/>
              </a:rPr>
              <a:t>▪  Took: masking [2], group testing [1], and a code-based KEM [3].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6251F"/>
                </a:solidFill>
                <a:latin typeface="Segoe UI"/>
              </a:rPr>
              <a:t>▪  Changed: temporal group testing over re-randomized clusters; HQC-seeded, KEM-agnostic masking.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6251F"/>
                </a:solidFill>
                <a:latin typeface="Segoe UI"/>
              </a:rPr>
              <a:t>▪  New: the laundering theorem, the first code-based PQ secure aggregation, and trust-free detection.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6251F"/>
                </a:solidFill>
                <a:latin typeface="Segoe UI"/>
              </a:rPr>
              <a:t>▪  Payoff: private, post-quantum, and Byzantine-robust FL that ties the state of the art at lower cost.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5332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2A78D6"/>
                </a:solidFill>
                <a:latin typeface="Segoe UI"/>
              </a:rPr>
              <a:t>[1] FedGT 2025;  [2] Bonawitz 2017;  [3] NIST IR 8545 2025.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898781"/>
                </a:solidFill>
                <a:latin typeface="Segoe UI"/>
              </a:rPr>
              <a:t>CB-SAFE · Suva &amp; Chowdhury · AIUB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898781"/>
                </a:solidFill>
                <a:latin typeface="Segoe UI"/>
              </a:rPr>
              <a:t>15 / 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A78D6"/>
                </a:solidFill>
                <a:latin typeface="Segoe UI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0B0B0B"/>
                </a:solidFill>
                <a:latin typeface="Segoe UI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0" i="0">
                <a:solidFill>
                  <a:srgbClr val="26251F"/>
                </a:solidFill>
                <a:latin typeface="Segoe UI"/>
              </a:rPr>
              <a:t>[1] M. Xhemrishi, J. Östman, A. Wachter-Zeh, A. Graell i Amat. FedGT: Identification of malicious clients in federated learning with secure aggregation. IEEE Trans. Inf. Forensics Security, vol. 20, 2025.</a:t>
            </a:r>
          </a:p>
          <a:p>
            <a:pPr>
              <a:spcAft>
                <a:spcPts val="1000"/>
              </a:spcAft>
            </a:pPr>
            <a:r>
              <a:rPr sz="1200" b="0" i="0">
                <a:solidFill>
                  <a:srgbClr val="26251F"/>
                </a:solidFill>
                <a:latin typeface="Segoe UI"/>
              </a:rPr>
              <a:t>[2] K. Bonawitz et al. Practical secure aggregation for privacy-preserving machine learning. ACM CCS, 2017.</a:t>
            </a:r>
          </a:p>
          <a:p>
            <a:pPr>
              <a:spcAft>
                <a:spcPts val="1000"/>
              </a:spcAft>
            </a:pPr>
            <a:r>
              <a:rPr sz="1200" b="0" i="0">
                <a:solidFill>
                  <a:srgbClr val="26251F"/>
                </a:solidFill>
                <a:latin typeface="Segoe UI"/>
              </a:rPr>
              <a:t>[3] National Institute of Standards and Technology. Status report on the fourth round of the NIST PQC standardization process (HQC selection). NIST IR 8545, 2025.</a:t>
            </a:r>
          </a:p>
          <a:p>
            <a:pPr>
              <a:spcAft>
                <a:spcPts val="1000"/>
              </a:spcAft>
            </a:pPr>
            <a:r>
              <a:rPr sz="1200" b="0" i="0">
                <a:solidFill>
                  <a:srgbClr val="26251F"/>
                </a:solidFill>
                <a:latin typeface="Segoe UI"/>
              </a:rPr>
              <a:t>[4] P. W. Shor. Polynomial-time algorithms for prime factorization and discrete logarithms on a quantum computer. SIAM J. Comput., 1997.</a:t>
            </a:r>
          </a:p>
          <a:p>
            <a:pPr>
              <a:spcAft>
                <a:spcPts val="1000"/>
              </a:spcAft>
            </a:pPr>
            <a:r>
              <a:rPr sz="1200" b="0" i="0">
                <a:solidFill>
                  <a:srgbClr val="26251F"/>
                </a:solidFill>
                <a:latin typeface="Segoe UI"/>
              </a:rPr>
              <a:t>[5] X. Cao, M. Fang, J. Liu, N. Z. Gong. FLTrust: Byzantine-robust federated learning via trust bootstrapping. NDSS, 2021.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898781"/>
                </a:solidFill>
                <a:latin typeface="Segoe UI"/>
              </a:rPr>
              <a:t>CB-SAFE · Suva &amp; Chowdhury · AIUB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