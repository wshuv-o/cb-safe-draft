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19202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A78D6"/>
                </a:solidFill>
                <a:latin typeface="Segoe UI"/>
              </a:rPr>
              <a:t>RESEARCH PRESENTATION · POST-QUANTUM CRYPTOGRAPHY × FEDERATED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7744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0B0B0B"/>
                </a:solidFill>
                <a:latin typeface="Segoe UI"/>
              </a:rPr>
              <a:t>CB-SAFE: Code-Based Post-Quantum Secure Aggregation for Byzantine-Robust Federated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48056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26251F"/>
                </a:solidFill>
                <a:latin typeface="Segoe UI"/>
              </a:rPr>
              <a:t>Md Wahiduzzaman Suva (26-94088-2)   ·   Esm-e Moula Chowdhury Abha (26-94089-2)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9834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2514E"/>
                </a:solidFill>
                <a:latin typeface="Segoe UI"/>
              </a:rPr>
              <a:t>Department of Computer Science, American International University–Bangladesh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What this research is about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2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10881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The setting: </a:t>
            </a:r>
            <a:r>
              <a:rPr sz="1600">
                <a:solidFill>
                  <a:srgbClr val="26251F"/>
                </a:solidFill>
                <a:latin typeface="Segoe UI"/>
              </a:rPr>
              <a:t>federated learning (FL) trains one shared model across many devices; data never leaves the client, only model updates travel.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What we are trying to do: </a:t>
            </a:r>
            <a:r>
              <a:rPr sz="1600">
                <a:solidFill>
                  <a:srgbClr val="26251F"/>
                </a:solidFill>
                <a:latin typeface="Segoe UI"/>
              </a:rPr>
              <a:t>keep those updates private against future quantum computers AND keep training correct when some clients are malicious.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What we propose: </a:t>
            </a:r>
            <a:r>
              <a:rPr sz="1600">
                <a:solidFill>
                  <a:srgbClr val="26251F"/>
                </a:solidFill>
                <a:latin typeface="Segoe UI"/>
              </a:rPr>
              <a:t>CB-SAFE, a secure-aggregation framework whose post-quantum protection comes from a code-based scheme (HQC) instead of the usual lattices, extended with a poisoning defense.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297680"/>
            <a:ext cx="2103120" cy="91440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Clients train locally
(private data)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63240" y="4608576"/>
            <a:ext cx="777240" cy="292608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4297680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2514E"/>
                </a:solidFill>
                <a:latin typeface="Segoe UI"/>
              </a:rPr>
              <a:t>encrypted updates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4297680"/>
            <a:ext cx="2286000" cy="91440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Server aggregates
(sees no individual update)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400800" y="4608576"/>
            <a:ext cx="777240" cy="292608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4297680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2514E"/>
                </a:solidFill>
                <a:latin typeface="Segoe UI"/>
              </a:rPr>
              <a:t>new global model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4297680"/>
            <a:ext cx="2103120" cy="914400"/>
          </a:xfrm>
          <a:prstGeom prst="roundRect">
            <a:avLst/>
          </a:prstGeom>
          <a:solidFill>
            <a:srgbClr val="EEF7F2"/>
          </a:solidFill>
          <a:ln w="15875">
            <a:solidFill>
              <a:srgbClr val="1BAF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Better shared model,
privacy intact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75520" y="4297680"/>
            <a:ext cx="1737360" cy="914400"/>
          </a:xfrm>
          <a:prstGeom prst="roundRect">
            <a:avLst/>
          </a:prstGeom>
          <a:solidFill>
            <a:srgbClr val="FBEFEF"/>
          </a:solidFill>
          <a:ln w="15875">
            <a:solidFill>
              <a:srgbClr val="E349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Threats:
quantum + poisoning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The problem: three threats meet in one protocol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3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Updates leak. </a:t>
            </a:r>
            <a:r>
              <a:rPr sz="1600">
                <a:solidFill>
                  <a:srgbClr val="26251F"/>
                </a:solidFill>
                <a:latin typeface="Segoe UI"/>
              </a:rPr>
              <a:t>Gradient-inversion attacks reconstruct private training images from a single client's update, so updates must be hidden.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Secure aggregation hides them </a:t>
            </a:r>
            <a:r>
              <a:rPr sz="1600">
                <a:solidFill>
                  <a:srgbClr val="26251F"/>
                </a:solidFill>
                <a:latin typeface="Segoe UI"/>
              </a:rPr>
              <a:t>with pairwise masks that cancel in the sum, but its key exchange breaks once a quantum computer exists (“harvest now, decrypt later”).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All post-quantum fixes use one math family (lattices) </a:t>
            </a:r>
            <a:r>
              <a:rPr sz="1600">
                <a:solidFill>
                  <a:srgbClr val="26251F"/>
                </a:solidFill>
                <a:latin typeface="Segoe UI"/>
              </a:rPr>
              <a:t>and hiding updates also blinds the server to poisoned updates from malicious clients.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4160520"/>
            <a:ext cx="2743200" cy="868680"/>
          </a:xfrm>
          <a:prstGeom prst="roundRect">
            <a:avLst/>
          </a:prstGeom>
          <a:solidFill>
            <a:srgbClr val="FBEFEF"/>
          </a:solidFill>
          <a:ln w="15875">
            <a:solidFill>
              <a:srgbClr val="E349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Privacy threat:
updates reveal training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4160520"/>
            <a:ext cx="2743200" cy="868680"/>
          </a:xfrm>
          <a:prstGeom prst="roundRect">
            <a:avLst/>
          </a:prstGeom>
          <a:solidFill>
            <a:srgbClr val="FBEFEF"/>
          </a:solidFill>
          <a:ln w="15875">
            <a:solidFill>
              <a:srgbClr val="E349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Quantum threat:
key exchange breaks (Shor)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4160520"/>
            <a:ext cx="2743200" cy="868680"/>
          </a:xfrm>
          <a:prstGeom prst="roundRect">
            <a:avLst/>
          </a:prstGeom>
          <a:solidFill>
            <a:srgbClr val="FBEFEF"/>
          </a:solidFill>
          <a:ln w="15875">
            <a:solidFill>
              <a:srgbClr val="E349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Poisoning threat:
malicious clients flip the model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322576" y="5120640"/>
            <a:ext cx="292608" cy="365760"/>
          </a:xfrm>
          <a:prstGeom prst="down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own Arrow 11"/>
          <p:cNvSpPr/>
          <p:nvPr/>
        </p:nvSpPr>
        <p:spPr>
          <a:xfrm>
            <a:off x="5888736" y="5120640"/>
            <a:ext cx="292608" cy="365760"/>
          </a:xfrm>
          <a:prstGeom prst="down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own Arrow 12"/>
          <p:cNvSpPr/>
          <p:nvPr/>
        </p:nvSpPr>
        <p:spPr>
          <a:xfrm>
            <a:off x="9454896" y="5120640"/>
            <a:ext cx="292608" cy="365760"/>
          </a:xfrm>
          <a:prstGeom prst="down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108960" y="5577840"/>
            <a:ext cx="5852160" cy="77724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400" b="1">
                <a:solidFill>
                  <a:srgbClr val="0B0B0B"/>
                </a:solidFill>
                <a:latin typeface="Segoe UI"/>
              </a:rPr>
              <a:t>FL secure aggregation must survive all three at once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CLOSELY RELATED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How the closest peer-reviewed paper solves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4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52514E"/>
                </a:solidFill>
                <a:latin typeface="Segoe UI"/>
              </a:rPr>
              <a:t>PQSF: “Post-quantum secure privacy-preserving federated learning”, Zhang et al., Scientific Reports 14, 2024 (peer-reviewed)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4028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Their solution: </a:t>
            </a:r>
            <a:r>
              <a:rPr sz="1600">
                <a:solidFill>
                  <a:srgbClr val="26251F"/>
                </a:solidFill>
                <a:latin typeface="Segoe UI"/>
              </a:rPr>
              <a:t>the Bonawitz-style masking protocol, made quantum-safe with lattice cryptography: a lattice multi-stage secret-sharing scheme reconstructs the masks, so the server still learns only the sum of updates.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What works: </a:t>
            </a:r>
            <a:r>
              <a:rPr sz="1600">
                <a:solidFill>
                  <a:srgbClr val="26251F"/>
                </a:solidFill>
                <a:latin typeface="Segoe UI"/>
              </a:rPr>
              <a:t>peer-reviewed evidence that post-quantum secure aggregation is practical in FL; our confidentiality layer follows the same masking pattern.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251960"/>
            <a:ext cx="3383280" cy="1051560"/>
          </a:xfrm>
          <a:prstGeom prst="roundRect">
            <a:avLst/>
          </a:prstGeom>
          <a:solidFill>
            <a:srgbClr val="FBEFEF"/>
          </a:solidFill>
          <a:ln w="15875">
            <a:solidFill>
              <a:srgbClr val="E349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250" b="0">
                <a:solidFill>
                  <a:srgbClr val="0B0B0B"/>
                </a:solidFill>
                <a:latin typeface="Segoe UI"/>
              </a:rPr>
              <a:t>Gap 1 · Lattice-only
One cryptanalytic advance
breaks everything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4251960"/>
            <a:ext cx="3383280" cy="1051560"/>
          </a:xfrm>
          <a:prstGeom prst="roundRect">
            <a:avLst/>
          </a:prstGeom>
          <a:solidFill>
            <a:srgbClr val="FBEFEF"/>
          </a:solidFill>
          <a:ln w="15875">
            <a:solidFill>
              <a:srgbClr val="E349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250" b="0">
                <a:solidFill>
                  <a:srgbClr val="0B0B0B"/>
                </a:solidFill>
                <a:latin typeface="Segoe UI"/>
              </a:rPr>
              <a:t>Gap 2 · No robustness
A poisoned update passes
straight through the sum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4251960"/>
            <a:ext cx="3383280" cy="1051560"/>
          </a:xfrm>
          <a:prstGeom prst="roundRect">
            <a:avLst/>
          </a:prstGeom>
          <a:solidFill>
            <a:srgbClr val="FBEFEF"/>
          </a:solidFill>
          <a:ln w="15875">
            <a:solidFill>
              <a:srgbClr val="E349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250" b="0">
                <a:solidFill>
                  <a:srgbClr val="0B0B0B"/>
                </a:solidFill>
                <a:latin typeface="Segoe UI"/>
              </a:rPr>
              <a:t>Gap 3 · Hard-wired primitive
Cannot swap the KEM
when standards evolve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44068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A78D6"/>
                </a:solidFill>
                <a:latin typeface="Segoe UI"/>
              </a:rPr>
              <a:t>CB-SAFE targets exactly these gaps. The closest robustness peer, FedGT (TIFS 2025), also tests group sums but is not post-quantum; CB-SAFE matches its detection at lower cost and adds code-based confidentiality.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OUR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CB-SAFE: one training round,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5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6251F"/>
                </a:solidFill>
                <a:latin typeface="Segoe UI"/>
              </a:rPr>
              <a:t>Code-based (HQC) key setup happens once; every round then runs entirely on cheap masks.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377440"/>
            <a:ext cx="1965960" cy="73152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Cluster 1
(c clients, masked)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291840"/>
            <a:ext cx="1965960" cy="73152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Cluster 2
(c clients, masked)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11480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52514E"/>
                </a:solidFill>
                <a:latin typeface="Segoe UI"/>
              </a:rPr>
              <a:t>⋮   (k clusters)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880360" y="3246120"/>
            <a:ext cx="731520" cy="292608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68880" y="293522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2514E"/>
                </a:solidFill>
                <a:latin typeface="Segoe UI"/>
              </a:rPr>
              <a:t>masks cancel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39" y="2834640"/>
            <a:ext cx="2377440" cy="155448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50" b="1">
                <a:solidFill>
                  <a:srgbClr val="0B0B0B"/>
                </a:solidFill>
                <a:latin typeface="Segoe UI"/>
              </a:rPr>
              <a:t>Server sees ONLY
k cluster sums
S₁ … Sₖ
(never an individual)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263640" y="3246120"/>
            <a:ext cx="731520" cy="292608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293522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2514E"/>
                </a:solidFill>
                <a:latin typeface="Segoe UI"/>
              </a:rPr>
              <a:t>inspect sums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0" y="2834640"/>
            <a:ext cx="2286000" cy="1554480"/>
          </a:xfrm>
          <a:prstGeom prst="roundRect">
            <a:avLst/>
          </a:prstGeom>
          <a:solidFill>
            <a:srgbClr val="EEF7F2"/>
          </a:solidFill>
          <a:ln w="15875">
            <a:solidFill>
              <a:srgbClr val="1BAF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50" b="0">
                <a:solidFill>
                  <a:srgbClr val="0B0B0B"/>
                </a:solidFill>
                <a:latin typeface="Segoe UI"/>
              </a:rPr>
              <a:t>Robust aggregation
+ CB-SAFE+ defense
(flag &amp; exclude attackers)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555480" y="3246120"/>
            <a:ext cx="731520" cy="292608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332720" y="2971800"/>
            <a:ext cx="1463040" cy="128016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1">
                <a:solidFill>
                  <a:srgbClr val="0B0B0B"/>
                </a:solidFill>
                <a:latin typeface="Segoe UI"/>
              </a:rPr>
              <a:t>Global
model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257800"/>
            <a:ext cx="5486400" cy="64008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200" b="0">
                <a:solidFill>
                  <a:srgbClr val="0B0B0B"/>
                </a:solidFill>
                <a:latin typeface="Segoe UI"/>
              </a:rPr>
              <a:t>ONE-TIME: HQC (code-based KEM) key setup (pluggable: swap in ML-KEM/Kyber with one config line)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60" y="5257800"/>
            <a:ext cx="5257800" cy="640080"/>
          </a:xfrm>
          <a:prstGeom prst="roundRect">
            <a:avLst/>
          </a:prstGeom>
          <a:solidFill>
            <a:srgbClr val="EEF7F2"/>
          </a:solidFill>
          <a:ln w="15875">
            <a:solidFill>
              <a:srgbClr val="1BAF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200" b="0">
                <a:solidFill>
                  <a:srgbClr val="0B0B0B"/>
                </a:solidFill>
                <a:latin typeface="Segoe UI"/>
              </a:rPr>
              <a:t>EVERY ROUND: fresh masks from stored secrets: zero KEM bytes on the wire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PROPOSAL · CONFIDENTIALITY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Hide every update, pay for crypto only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6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Each client adds secret masks to its update; </a:t>
            </a:r>
            <a:r>
              <a:rPr sz="1600">
                <a:solidFill>
                  <a:srgbClr val="26251F"/>
                </a:solidFill>
                <a:latin typeface="Segoe UI"/>
              </a:rPr>
              <a:t>within a cluster the masks cancel, so the sum is exact but individuals stay hidden (anonymity set = cluster size).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Guarantee (proved): </a:t>
            </a:r>
            <a:r>
              <a:rPr sz="1600">
                <a:solidFill>
                  <a:srgbClr val="26251F"/>
                </a:solidFill>
                <a:latin typeface="Segoe UI"/>
              </a:rPr>
              <a:t>the server, even colluding with some clients, learns nothing beyond each cluster's sum.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Dropouts handled: </a:t>
            </a:r>
            <a:r>
              <a:rPr sz="1600">
                <a:solidFill>
                  <a:srgbClr val="26251F"/>
                </a:solidFill>
                <a:latin typeface="Segoe UI"/>
              </a:rPr>
              <a:t>secret-sharing recovers the masks of clients who disconnect mid-round.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977639"/>
            <a:ext cx="3108960" cy="137160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SETUP (once)
publish HQC public keys,
establish pairwise secrets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69080" y="4526279"/>
            <a:ext cx="822960" cy="292608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4215383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2514E"/>
                </a:solidFill>
                <a:latin typeface="Segoe UI"/>
              </a:rPr>
              <a:t>stored secrets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3977639"/>
            <a:ext cx="3108960" cy="1371600"/>
          </a:xfrm>
          <a:prstGeom prst="roundRect">
            <a:avLst/>
          </a:prstGeom>
          <a:solidFill>
            <a:srgbClr val="EEF7F2"/>
          </a:solidFill>
          <a:ln w="15875">
            <a:solidFill>
              <a:srgbClr val="1BAF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EVERY ROUND
derive fresh masks locally
(no new crypto traffic)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275320" y="4526279"/>
            <a:ext cx="822960" cy="292608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4215383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52514E"/>
                </a:solidFill>
                <a:latin typeface="Segoe UI"/>
              </a:rPr>
              <a:t>masked update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5440" y="3977639"/>
            <a:ext cx="2377440" cy="137160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300" b="0">
                <a:solidFill>
                  <a:srgbClr val="0B0B0B"/>
                </a:solidFill>
                <a:latin typeface="Segoe UI"/>
              </a:rPr>
              <a:t>SERVER
sums per cluster,
masks vanish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PROPOSAL · CB-SAFE+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Catch attackers the server never sees individually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7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795527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Key insight: </a:t>
            </a:r>
            <a:r>
              <a:rPr sz="1600">
                <a:solidFill>
                  <a:srgbClr val="26251F"/>
                </a:solidFill>
                <a:latin typeface="Segoe UI"/>
              </a:rPr>
              <a:t>a poisoned cluster sum looks normal in size but pushes the model the wrong way; a tiny server-side dataset (200 samples) exposes it: applying that sum raises the loss.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▪  </a:t>
            </a:r>
            <a:r>
              <a:rPr sz="1600" b="1">
                <a:solidFill>
                  <a:srgbClr val="0B0B0B"/>
                </a:solidFill>
                <a:latin typeface="Segoe UI"/>
              </a:rPr>
              <a:t>Repetition identifies individuals: </a:t>
            </a:r>
            <a:r>
              <a:rPr sz="1600">
                <a:solidFill>
                  <a:srgbClr val="26251F"/>
                </a:solidFill>
                <a:latin typeface="Segoe UI"/>
              </a:rPr>
              <a:t>clusters are reshuffled every round, so a real attacker is inside a flagged cluster almost every round while honest clients are flagged only occasionally.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520440"/>
            <a:ext cx="1874519" cy="132588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50" b="0">
                <a:solidFill>
                  <a:srgbClr val="0B0B0B"/>
                </a:solidFill>
                <a:latin typeface="Segoe UI"/>
              </a:rPr>
              <a:t>1 · Reshuffle
new random clusters
every round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51760" y="4041647"/>
            <a:ext cx="292608" cy="27432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71800" y="3520440"/>
            <a:ext cx="1874519" cy="132588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50" b="0">
                <a:solidFill>
                  <a:srgbClr val="0B0B0B"/>
                </a:solidFill>
                <a:latin typeface="Segoe UI"/>
              </a:rPr>
              <a:t>2 · Probe
does each cluster sum
raise root-set loss?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92040" y="4041647"/>
            <a:ext cx="292608" cy="27432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12080" y="3520440"/>
            <a:ext cx="1874519" cy="1325880"/>
          </a:xfrm>
          <a:prstGeom prst="roundRect">
            <a:avLst/>
          </a:prstGeom>
          <a:solidFill>
            <a:srgbClr val="FBEFEF"/>
          </a:solidFill>
          <a:ln w="15875">
            <a:solidFill>
              <a:srgbClr val="E349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50" b="0">
                <a:solidFill>
                  <a:srgbClr val="0B0B0B"/>
                </a:solidFill>
                <a:latin typeface="Segoe UI"/>
              </a:rPr>
              <a:t>3 · Flag
mark suspicious
cluster sums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32320" y="4041647"/>
            <a:ext cx="292608" cy="27432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52360" y="3520440"/>
            <a:ext cx="1874519" cy="1325880"/>
          </a:xfrm>
          <a:prstGeom prst="roundRect">
            <a:avLst/>
          </a:prstGeom>
          <a:solidFill>
            <a:srgbClr val="F2F5FA"/>
          </a:solidFill>
          <a:ln w="15875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50" b="0">
                <a:solidFill>
                  <a:srgbClr val="0B0B0B"/>
                </a:solidFill>
                <a:latin typeface="Segoe UI"/>
              </a:rPr>
              <a:t>4 · Score
suspicion += 1 for all
members of flagged clusters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372600" y="4041647"/>
            <a:ext cx="292608" cy="27432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92640" y="3520440"/>
            <a:ext cx="1874519" cy="1325880"/>
          </a:xfrm>
          <a:prstGeom prst="roundRect">
            <a:avLst/>
          </a:prstGeom>
          <a:solidFill>
            <a:srgbClr val="EEF7F2"/>
          </a:solidFill>
          <a:ln w="15875">
            <a:solidFill>
              <a:srgbClr val="1BAF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50" b="0">
                <a:solidFill>
                  <a:srgbClr val="0B0B0B"/>
                </a:solidFill>
                <a:latin typeface="Segoe UI"/>
              </a:rPr>
              <a:t>5 · Exclude
persistent suspects are
removed from 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1663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2514E"/>
                </a:solidFill>
                <a:latin typeface="Segoe UI"/>
              </a:rPr>
              <a:t>Flags are computed from sums the server already holds, so the defense leaks nothing extra (proved).</a:t>
            </a:r>
          </a:p>
        </p:txBody>
      </p:sp>
      <p:pic>
        <p:nvPicPr>
          <p:cNvPr id="18" name="Picture 17" descr="fig_launder_g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0" y="1691640"/>
            <a:ext cx="2331720" cy="174650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EVALUATION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How we evaluate: five KPI families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8 /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783080"/>
          <a:ext cx="108356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60520"/>
                <a:gridCol w="3931920"/>
              </a:tblGrid>
              <a:tr h="5943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KPI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What it measures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How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51F"/>
                          </a:solidFill>
                          <a:latin typeface="Segoe UI"/>
                        </a:rPr>
                        <a:t>Communication overhead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bytes per client: one-time setup vs every round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counted from real protocol messages (liboqs)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51F"/>
                          </a:solidFill>
                          <a:latin typeface="Segoe UI"/>
                        </a:rPr>
                        <a:t>Computation time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key setup, masking, unmasking wall-clock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measured per round on real hardware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51F"/>
                          </a:solidFill>
                          <a:latin typeface="Segoe UI"/>
                        </a:rPr>
                        <a:t>Utility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test accuracy vs plain FedAvg (must match)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CIFAR-10, non-IID, 30 clients, 40 rounds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51F"/>
                          </a:solidFill>
                          <a:latin typeface="Segoe UI"/>
                        </a:rPr>
                        <a:t>Robustness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accuracy &amp; attack success rate vs attacker fraction f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sign-flip, label-flip, backdoor at f = 10–30%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51F"/>
                          </a:solidFill>
                          <a:latin typeface="Segoe UI"/>
                        </a:rPr>
                        <a:t>Identification quality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attackers caught / honest clients wrongly excluded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51F"/>
                          </a:solidFill>
                          <a:latin typeface="Segoe UI"/>
                        </a:rPr>
                        <a:t>vs ground truth across all runs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56235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Baselines: plain FedAvg and the lattice (ML-KEM) variant, plus eight robust rules at matched NIST levels: mean, trimmed mean, median, Multi-Krum, Bulyan, geometric-median (RFA), FLTrust, and the SOTA group-testing method FedGT (TIFS 2025).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EVALUATION · KPI 1 &amp; 2 (COST)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The code-based premium is a one-time constant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9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5669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</a:t>
            </a:r>
            <a:r>
              <a:rPr sz="1550" b="1">
                <a:solidFill>
                  <a:srgbClr val="0B0B0B"/>
                </a:solidFill>
                <a:latin typeface="Segoe UI"/>
              </a:rPr>
              <a:t>Every round costs the same for all six KEMs: </a:t>
            </a:r>
            <a:r>
              <a:rPr sz="1550">
                <a:solidFill>
                  <a:srgbClr val="26251F"/>
                </a:solidFill>
                <a:latin typeface="Segoe UI"/>
              </a:rPr>
              <a:t>2,277 KiB per client; the update itself dominates.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</a:t>
            </a:r>
            <a:r>
              <a:rPr sz="1550" b="1">
                <a:solidFill>
                  <a:srgbClr val="0B0B0B"/>
                </a:solidFill>
                <a:latin typeface="Segoe UI"/>
              </a:rPr>
              <a:t>Setup (once): </a:t>
            </a:r>
            <a:r>
              <a:rPr sz="1550">
                <a:solidFill>
                  <a:srgbClr val="26251F"/>
                </a:solidFill>
                <a:latin typeface="Segoe UI"/>
              </a:rPr>
              <a:t>HQC 15.2 KiB vs ML-KEM 3.8 KiB per client, under 0.03% of 40 rounds' traffic.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</a:t>
            </a:r>
            <a:r>
              <a:rPr sz="1550" b="1">
                <a:solidFill>
                  <a:srgbClr val="0B0B0B"/>
                </a:solidFill>
                <a:latin typeface="Segoe UI"/>
              </a:rPr>
              <a:t>Time: </a:t>
            </a:r>
            <a:r>
              <a:rPr sz="1550">
                <a:solidFill>
                  <a:srgbClr val="26251F"/>
                </a:solidFill>
                <a:latin typeface="Segoe UI"/>
              </a:rPr>
              <a:t>2.0 s one-time key setup for 30 clients; ~26 ms masking per round vs ~21 s of training.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</a:t>
            </a:r>
            <a:r>
              <a:rPr sz="1550" b="1">
                <a:solidFill>
                  <a:srgbClr val="0B0B0B"/>
                </a:solidFill>
                <a:latin typeface="Segoe UI"/>
              </a:rPr>
              <a:t>Takeaway: </a:t>
            </a:r>
            <a:r>
              <a:rPr sz="1550">
                <a:solidFill>
                  <a:srgbClr val="26251F"/>
                </a:solidFill>
                <a:latin typeface="Segoe UI"/>
              </a:rPr>
              <a:t>cryptographic diversity is practically free once keys are reused.</a:t>
            </a:r>
          </a:p>
        </p:txBody>
      </p:sp>
      <p:pic>
        <p:nvPicPr>
          <p:cNvPr id="8" name="Picture 7" descr="fig_amort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828800"/>
            <a:ext cx="5074920" cy="35160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20840" y="5806440"/>
            <a:ext cx="5074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2514E"/>
                </a:solidFill>
                <a:latin typeface="Segoe UI"/>
              </a:rPr>
              <a:t>Even the heaviest HQC setup is ~2% of ONE round's traffic (log scale).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EVALUATION · KPI 3 (UTILITY)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Privacy provably costs no accuracy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10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5669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</a:t>
            </a:r>
            <a:r>
              <a:rPr sz="1550" b="1">
                <a:solidFill>
                  <a:srgbClr val="0B0B0B"/>
                </a:solidFill>
                <a:latin typeface="Segoe UI"/>
              </a:rPr>
              <a:t>59.0% on non-IID CIFAR-10 </a:t>
            </a:r>
            <a:r>
              <a:rPr sz="1550">
                <a:solidFill>
                  <a:srgbClr val="26251F"/>
                </a:solidFill>
                <a:latin typeface="Segoe UI"/>
              </a:rPr>
              <a:t>(30 clients, 40 rounds), identical for plain, HQC, and ML-KEM runs.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</a:t>
            </a:r>
            <a:r>
              <a:rPr sz="1550" b="1">
                <a:solidFill>
                  <a:srgbClr val="0B0B0B"/>
                </a:solidFill>
                <a:latin typeface="Segoe UI"/>
              </a:rPr>
              <a:t>Why identical: </a:t>
            </a:r>
            <a:r>
              <a:rPr sz="1550">
                <a:solidFill>
                  <a:srgbClr val="26251F"/>
                </a:solidFill>
                <a:latin typeface="Segoe UI"/>
              </a:rPr>
              <a:t>secure sums matched plain sums in every round to 2.28×10⁻⁵, exactly the rounding limit; the crypto changes nothing else.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</a:t>
            </a:r>
            <a:r>
              <a:rPr sz="1550" b="1">
                <a:solidFill>
                  <a:srgbClr val="0B0B0B"/>
                </a:solidFill>
                <a:latin typeface="Segoe UI"/>
              </a:rPr>
              <a:t>Dropout recovery verified live </a:t>
            </a:r>
            <a:r>
              <a:rPr sz="1550">
                <a:solidFill>
                  <a:srgbClr val="26251F"/>
                </a:solidFill>
                <a:latin typeface="Segoe UI"/>
              </a:rPr>
              <a:t>in rounds 10 and 20, including graceful exclusion of a below-threshold cluster.</a:t>
            </a:r>
          </a:p>
        </p:txBody>
      </p:sp>
      <p:pic>
        <p:nvPicPr>
          <p:cNvPr id="8" name="Picture 7" descr="fig_u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103120"/>
            <a:ext cx="5074920" cy="31478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20840" y="5806440"/>
            <a:ext cx="5074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2514E"/>
                </a:solidFill>
                <a:latin typeface="Segoe UI"/>
              </a:rPr>
              <a:t>One accuracy curve serves all three configurations.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EVALUATION · KPI 4 &amp; 5 (ROBUSTNESS)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Standard rules collapse; CB-SAFE+ recovers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11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5669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Why rules fail: cluster averaging disguises the poison (normal size, wrong direction), so mean, trimmed mean, median and even the robust geometric median (RFA) fall to ~10% (random) at f ≥ 20%; Multi-Krum and Bulyan degrade but hold longer.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Ties the state of the art: at f = 30% CB-SAFE+ holds ~50% accuracy, matching FedGT (TIFS 2025), while catching 3/3, 6/6, 9/9 attackers with far fewer false exclusions (0.0 / 0.7 / 0.3 vs FedGT 1.3 / 3.3 / 1.3).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50">
                <a:solidFill>
                  <a:srgbClr val="2A78D6"/>
                </a:solidFill>
                <a:latin typeface="Segoe UI"/>
              </a:rPr>
              <a:t>▪  Generalizes across domains: the same collapse-and-recover pattern holds on EMNIST (85% at f = 30%) and tabular Edge-IIoTset (62%); stealthy backdoors remain an open limit for all sum-level defenses.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5806440"/>
            <a:ext cx="5074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2514E"/>
                </a:solidFill>
                <a:latin typeface="Segoe UI"/>
              </a:rPr>
              <a:t>Sign-flip attack on CIFAR-10: accuracy vs attacker fraction across eight rules; only CB-SAFE+ and FedGT stay near the clean baseline.</a:t>
            </a:r>
          </a:p>
        </p:txBody>
      </p:sp>
      <p:pic>
        <p:nvPicPr>
          <p:cNvPr id="10" name="Picture 9" descr="fig_signflip_acc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828800"/>
            <a:ext cx="5074920" cy="341049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38404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0B0B"/>
                </a:solidFill>
                <a:latin typeface="Segoe UI"/>
              </a:rPr>
              <a:t>Takeaways &amp; 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CB-SAFE · Suva &amp; Chowdhury · AIUB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98781"/>
                </a:solidFill>
                <a:latin typeface="Segoe UI"/>
              </a:rPr>
              <a:t>12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▪  Diversity delivered: the first code-based post-quantum secure aggregation for FL, at a one-time cost under 0.03% of traffic.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▪  New understanding: secure aggregation launders poisoning; defenses must use signals that survive summation, accumulated over rounds.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▪  New defense: CB-SAFE+ identifies individual attackers from group observations only, tying FedGT at ~4x lower cost with zero extra privacy leakage.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▪  Open problems: stealthy backdoors, actively malicious servers, adaptive attackers.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▪  Validated across four datasets (CIFAR-10, FashionMNIST, EMNIST, Edge-IIoTset); 100-client scale in progress; implementation released open-source.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